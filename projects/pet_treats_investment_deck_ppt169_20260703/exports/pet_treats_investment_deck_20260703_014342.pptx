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这份招商方案基于岚禾小食现有静态商城和新增管理后台计划整理。核心目标不是单纯展示几款宠物零食，而是把天然产品、购买路径和经营数据组织成一套合作方能理解、能演示、能复盘的招商材料。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岚禾小食的招商价值来自三个“快”：合作方能快速讲清产品，门店能快速完成分类陈列，招商现场能快速演示从购买到后台统计的闭环。这里没有虚构市场规模，而是把网页和代码里已经具备的功能转译为渠道合作价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天然概念必须变成可复述的话术。产品详情页里的成分、适用对象、适口性、标签和卖点，是导购和私域内容最容易复用的素材。对渠道而言，这降低了培训成本，也减少了只靠包装图卖货的不确定性。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四类主推产品对应四个常见购买场景。鸡肉条适合日常奖励，冻干适合搭配主粮，洁齿棒适合功能型复购，训练粒适合互动和社群活动。这样的货盘结构便于小规模试销，也便于后续按销量加深 SKU。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宠物零食的销售不是一次性的“买一包”，而是围绕宠物家庭的日常关系展开。奖励、加餐、护理和训练分别对应不同购买理由。招商沟通时，先讲场景，再讲产品，会比直接堆 SKU 更容易让合作方判断适配度。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前台商城已经可以演示完整购买链路：分类筛选、查看详情、加入购物车、填写地址、生成订单。关键是，下单后会写入本地订单，后台能同步看到这条记录。这让招商演示从静态页面变成可操作流程。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后台的价值在于把产品展示推进到经营展示。订单列表、营业额、订单数、售出件数和销量排行，可以让合作方看到“卖什么、卖了多少、接下来补什么”。新品上架也能同步出现在前台，形成一套演示沙盘。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不同渠道关注点不同。宠物门店看重货架动销，区域代理看重招商说服力，私域团长看重内容转化，品牌合作方看重低成本验证。岚禾小食可以用同一套商品和演示系统，对应不同合作入口。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合作启动可以做轻：先选 2 到 4 个主推 SKU，再按场景做陈列和话术，最后用订单和销量数据做复盘。这个节奏适合试销，不需要一开始就承诺复杂系统或大库存。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最后的合作主张是：把天然宠物零食做成可复购的渠道生意。岚禾小食提供的不只是产品图片和价格表，而是一套能被讲清、被演示、被复盘的合作基础。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b0c45b24a97fb3d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0e18ee58497a6b3.jp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e75658b58eb2f4c.png"/>
  <Relationship Id="rId3" Type="http://schemas.openxmlformats.org/officeDocument/2006/relationships/image" Target="../media/image_0f17c070340f6ed1.png"/>
  <Relationship Id="rId4" Type="http://schemas.openxmlformats.org/officeDocument/2006/relationships/image" Target="../media/image_03fd40b83ffbcf3c.jpg"/>
  <Relationship Id="rId5" Type="http://schemas.openxmlformats.org/officeDocument/2006/relationships/image" Target="../media/image_e8a22448a162896a.jp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2ccfdfda2d62576.jpg"/>
  <Relationship Id="rId3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6F8F3">
              <a:alpha val="9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14350"/>
            <a:ext cx="18669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798107" y="640554"/>
            <a:ext cx="213535" cy="185739"/>
            <a:chOff x="798107" y="640554"/>
            <a:chExt cx="213535" cy="185739"/>
          </a:xfrm>
        </p:grpSpPr>
        <p:sp>
          <p:nvSpPr>
            <p:cNvPr id="6" name="Freeform 6"/>
            <p:cNvSpPr/>
            <p:nvPr/>
          </p:nvSpPr>
          <p:spPr>
            <a:xfrm>
              <a:off x="829517" y="712787"/>
              <a:ext cx="150684" cy="113506"/>
            </a:xfrm>
            <a:custGeom>
              <a:avLst/>
              <a:gdLst/>
              <a:ahLst/>
              <a:cxnLst/>
              <a:rect l="l" t="t" r="r" b="b"/>
              <a:pathLst>
                <a:path w="150684" h="113506">
                  <a:moveTo>
                    <a:pt x="75358" y="0"/>
                  </a:moveTo>
                  <a:cubicBezTo>
                    <a:pt x="61737" y="0"/>
                    <a:pt x="54896" y="4344"/>
                    <a:pt x="45113" y="19853"/>
                  </a:cubicBezTo>
                  <a:lnTo>
                    <a:pt x="42596" y="23960"/>
                  </a:lnTo>
                  <a:lnTo>
                    <a:pt x="38520" y="31059"/>
                  </a:lnTo>
                  <a:cubicBezTo>
                    <a:pt x="38032" y="31932"/>
                    <a:pt x="37547" y="32805"/>
                    <a:pt x="37065" y="33680"/>
                  </a:cubicBezTo>
                  <a:cubicBezTo>
                    <a:pt x="34588" y="38159"/>
                    <a:pt x="31173" y="41450"/>
                    <a:pt x="25312" y="45464"/>
                  </a:cubicBezTo>
                  <a:lnTo>
                    <a:pt x="19637" y="49231"/>
                  </a:lnTo>
                  <a:cubicBezTo>
                    <a:pt x="9937" y="55700"/>
                    <a:pt x="4860" y="60767"/>
                    <a:pt x="2022" y="69404"/>
                  </a:cubicBezTo>
                  <a:cubicBezTo>
                    <a:pt x="743" y="72891"/>
                    <a:pt x="0" y="78206"/>
                    <a:pt x="31" y="82612"/>
                  </a:cubicBezTo>
                  <a:cubicBezTo>
                    <a:pt x="31" y="100019"/>
                    <a:pt x="12393" y="113506"/>
                    <a:pt x="28923" y="113506"/>
                  </a:cubicBezTo>
                  <a:lnTo>
                    <a:pt x="31420" y="113444"/>
                  </a:lnTo>
                  <a:cubicBezTo>
                    <a:pt x="32648" y="113382"/>
                    <a:pt x="33835" y="113269"/>
                    <a:pt x="35073" y="113093"/>
                  </a:cubicBezTo>
                  <a:lnTo>
                    <a:pt x="37632" y="112649"/>
                  </a:lnTo>
                  <a:lnTo>
                    <a:pt x="38994" y="112361"/>
                  </a:lnTo>
                  <a:lnTo>
                    <a:pt x="41997" y="111607"/>
                  </a:lnTo>
                  <a:lnTo>
                    <a:pt x="43669" y="111143"/>
                  </a:lnTo>
                  <a:lnTo>
                    <a:pt x="49550" y="109389"/>
                  </a:lnTo>
                  <a:lnTo>
                    <a:pt x="57424" y="106881"/>
                  </a:lnTo>
                  <a:lnTo>
                    <a:pt x="62119" y="105478"/>
                  </a:lnTo>
                  <a:cubicBezTo>
                    <a:pt x="67588" y="103930"/>
                    <a:pt x="71818" y="103187"/>
                    <a:pt x="75358" y="103187"/>
                  </a:cubicBezTo>
                  <a:cubicBezTo>
                    <a:pt x="78907" y="103187"/>
                    <a:pt x="83128" y="103940"/>
                    <a:pt x="88597" y="105478"/>
                  </a:cubicBezTo>
                  <a:lnTo>
                    <a:pt x="93292" y="106881"/>
                  </a:lnTo>
                  <a:lnTo>
                    <a:pt x="101175" y="109378"/>
                  </a:lnTo>
                  <a:lnTo>
                    <a:pt x="107046" y="111143"/>
                  </a:lnTo>
                  <a:lnTo>
                    <a:pt x="110266" y="112010"/>
                  </a:lnTo>
                  <a:cubicBezTo>
                    <a:pt x="111267" y="112257"/>
                    <a:pt x="112195" y="112474"/>
                    <a:pt x="113083" y="112649"/>
                  </a:cubicBezTo>
                  <a:lnTo>
                    <a:pt x="115642" y="113093"/>
                  </a:lnTo>
                  <a:cubicBezTo>
                    <a:pt x="116880" y="113269"/>
                    <a:pt x="118067" y="113382"/>
                    <a:pt x="119295" y="113444"/>
                  </a:cubicBezTo>
                  <a:lnTo>
                    <a:pt x="121792" y="113506"/>
                  </a:lnTo>
                  <a:cubicBezTo>
                    <a:pt x="138322" y="113506"/>
                    <a:pt x="150684" y="100019"/>
                    <a:pt x="150684" y="82550"/>
                  </a:cubicBezTo>
                  <a:cubicBezTo>
                    <a:pt x="150684" y="78144"/>
                    <a:pt x="149931" y="72860"/>
                    <a:pt x="148548" y="69073"/>
                  </a:cubicBezTo>
                  <a:cubicBezTo>
                    <a:pt x="146113" y="61603"/>
                    <a:pt x="141562" y="56454"/>
                    <a:pt x="133277" y="50190"/>
                  </a:cubicBezTo>
                  <a:lnTo>
                    <a:pt x="130625" y="48230"/>
                  </a:lnTo>
                  <a:lnTo>
                    <a:pt x="125176" y="44309"/>
                  </a:lnTo>
                  <a:cubicBezTo>
                    <a:pt x="118552" y="39459"/>
                    <a:pt x="114827" y="35785"/>
                    <a:pt x="112247" y="31121"/>
                  </a:cubicBezTo>
                  <a:lnTo>
                    <a:pt x="109461" y="26117"/>
                  </a:lnTo>
                  <a:lnTo>
                    <a:pt x="106861" y="21659"/>
                  </a:lnTo>
                  <a:cubicBezTo>
                    <a:pt x="96428" y="4158"/>
                    <a:pt x="90165" y="0"/>
                    <a:pt x="75358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947718" y="681830"/>
              <a:ext cx="63924" cy="72232"/>
            </a:xfrm>
            <a:custGeom>
              <a:avLst/>
              <a:gdLst/>
              <a:ahLst/>
              <a:cxnLst/>
              <a:rect l="l" t="t" r="r" b="b"/>
              <a:pathLst>
                <a:path w="63924" h="72232">
                  <a:moveTo>
                    <a:pt x="37436" y="1"/>
                  </a:moveTo>
                  <a:lnTo>
                    <a:pt x="37127" y="1"/>
                  </a:lnTo>
                  <a:cubicBezTo>
                    <a:pt x="24548" y="207"/>
                    <a:pt x="12878" y="11001"/>
                    <a:pt x="7120" y="25839"/>
                  </a:cubicBezTo>
                  <a:cubicBezTo>
                    <a:pt x="0" y="44155"/>
                    <a:pt x="3529" y="64224"/>
                    <a:pt x="18213" y="70550"/>
                  </a:cubicBezTo>
                  <a:cubicBezTo>
                    <a:pt x="20854" y="71675"/>
                    <a:pt x="23651" y="72232"/>
                    <a:pt x="26478" y="72232"/>
                  </a:cubicBezTo>
                  <a:cubicBezTo>
                    <a:pt x="39180" y="72232"/>
                    <a:pt x="51036" y="61366"/>
                    <a:pt x="56846" y="46394"/>
                  </a:cubicBezTo>
                  <a:cubicBezTo>
                    <a:pt x="63924" y="28088"/>
                    <a:pt x="60354" y="8008"/>
                    <a:pt x="45743" y="1693"/>
                  </a:cubicBezTo>
                  <a:cubicBezTo>
                    <a:pt x="43120" y="576"/>
                    <a:pt x="40298" y="0"/>
                    <a:pt x="37447" y="1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5697" y="640556"/>
              <a:ext cx="61592" cy="72231"/>
            </a:xfrm>
            <a:custGeom>
              <a:avLst/>
              <a:gdLst/>
              <a:ahLst/>
              <a:cxnLst/>
              <a:rect l="l" t="t" r="r" b="b"/>
              <a:pathLst>
                <a:path w="61592" h="72231">
                  <a:moveTo>
                    <a:pt x="28480" y="0"/>
                  </a:moveTo>
                  <a:cubicBezTo>
                    <a:pt x="27324" y="0"/>
                    <a:pt x="26571" y="21"/>
                    <a:pt x="25694" y="155"/>
                  </a:cubicBezTo>
                  <a:lnTo>
                    <a:pt x="24734" y="320"/>
                  </a:lnTo>
                  <a:cubicBezTo>
                    <a:pt x="8926" y="2446"/>
                    <a:pt x="0" y="20844"/>
                    <a:pt x="2982" y="40099"/>
                  </a:cubicBezTo>
                  <a:cubicBezTo>
                    <a:pt x="5789" y="57898"/>
                    <a:pt x="18068" y="72231"/>
                    <a:pt x="33113" y="72231"/>
                  </a:cubicBezTo>
                  <a:lnTo>
                    <a:pt x="35042" y="72179"/>
                  </a:lnTo>
                  <a:cubicBezTo>
                    <a:pt x="35332" y="72155"/>
                    <a:pt x="35621" y="72120"/>
                    <a:pt x="35909" y="72076"/>
                  </a:cubicBezTo>
                  <a:lnTo>
                    <a:pt x="36858" y="71911"/>
                  </a:lnTo>
                  <a:cubicBezTo>
                    <a:pt x="52677" y="69785"/>
                    <a:pt x="61592" y="51387"/>
                    <a:pt x="58610" y="32132"/>
                  </a:cubicBezTo>
                  <a:cubicBezTo>
                    <a:pt x="55824" y="14312"/>
                    <a:pt x="43545" y="0"/>
                    <a:pt x="28480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02460" y="640554"/>
              <a:ext cx="61582" cy="72233"/>
            </a:xfrm>
            <a:custGeom>
              <a:avLst/>
              <a:gdLst/>
              <a:ahLst/>
              <a:cxnLst/>
              <a:rect l="l" t="t" r="r" b="b"/>
              <a:pathLst>
                <a:path w="61582" h="72233">
                  <a:moveTo>
                    <a:pt x="33082" y="2"/>
                  </a:moveTo>
                  <a:cubicBezTo>
                    <a:pt x="18027" y="2"/>
                    <a:pt x="5768" y="14325"/>
                    <a:pt x="2992" y="32125"/>
                  </a:cubicBezTo>
                  <a:cubicBezTo>
                    <a:pt x="0" y="51390"/>
                    <a:pt x="8915" y="69788"/>
                    <a:pt x="25425" y="72027"/>
                  </a:cubicBezTo>
                  <a:cubicBezTo>
                    <a:pt x="26488" y="72161"/>
                    <a:pt x="27489" y="72233"/>
                    <a:pt x="28480" y="72233"/>
                  </a:cubicBezTo>
                  <a:cubicBezTo>
                    <a:pt x="42823" y="72233"/>
                    <a:pt x="54720" y="59180"/>
                    <a:pt x="58167" y="42485"/>
                  </a:cubicBezTo>
                  <a:lnTo>
                    <a:pt x="58590" y="40111"/>
                  </a:lnTo>
                  <a:cubicBezTo>
                    <a:pt x="61582" y="20846"/>
                    <a:pt x="52667" y="2448"/>
                    <a:pt x="36157" y="209"/>
                  </a:cubicBezTo>
                  <a:cubicBezTo>
                    <a:pt x="35138" y="69"/>
                    <a:pt x="34110" y="0"/>
                    <a:pt x="33082" y="2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8107" y="681831"/>
              <a:ext cx="63914" cy="72231"/>
            </a:xfrm>
            <a:custGeom>
              <a:avLst/>
              <a:gdLst/>
              <a:ahLst/>
              <a:cxnLst/>
              <a:rect l="l" t="t" r="r" b="b"/>
              <a:pathLst>
                <a:path w="63914" h="72231">
                  <a:moveTo>
                    <a:pt x="26457" y="0"/>
                  </a:moveTo>
                  <a:cubicBezTo>
                    <a:pt x="23630" y="0"/>
                    <a:pt x="20844" y="557"/>
                    <a:pt x="18233" y="1661"/>
                  </a:cubicBezTo>
                  <a:cubicBezTo>
                    <a:pt x="3519" y="8007"/>
                    <a:pt x="0" y="28098"/>
                    <a:pt x="7110" y="46393"/>
                  </a:cubicBezTo>
                  <a:cubicBezTo>
                    <a:pt x="12919" y="61365"/>
                    <a:pt x="24755" y="72231"/>
                    <a:pt x="37457" y="72231"/>
                  </a:cubicBezTo>
                  <a:cubicBezTo>
                    <a:pt x="40284" y="72231"/>
                    <a:pt x="43070" y="71674"/>
                    <a:pt x="45681" y="70570"/>
                  </a:cubicBezTo>
                  <a:cubicBezTo>
                    <a:pt x="60395" y="64224"/>
                    <a:pt x="63914" y="44133"/>
                    <a:pt x="56805" y="25838"/>
                  </a:cubicBezTo>
                  <a:cubicBezTo>
                    <a:pt x="50995" y="10866"/>
                    <a:pt x="39160" y="0"/>
                    <a:pt x="26457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35380" y="6381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岚禾小食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" y="1327785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宠物零食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2165985"/>
            <a:ext cx="48723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品牌招商方案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932" y="3145155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天然配方、清晰货架、可演示经营闭环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" y="4000500"/>
            <a:ext cx="1352550" cy="41910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4202" y="4124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渠道合作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4000500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425827" y="4124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门店陈列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752850" y="4000500"/>
            <a:ext cx="158115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111752" y="4124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私域复购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" y="5219700"/>
            <a:ext cx="4343400" cy="9525"/>
          </a:xfrm>
          <a:custGeom>
            <a:avLst/>
            <a:gdLst/>
            <a:ahLst/>
            <a:cxnLst/>
            <a:rect l="l" t="t" r="r" b="b"/>
            <a:pathLst>
              <a:path w="4343400" h="952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01980" y="541972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基于官网与静态商城代码梳理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2742" y="5740718"/>
            <a:ext cx="15584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招商叙事版本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2434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FFFFFF">
                    <a:alphaMod val="85000"/>
                  </a:srgb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95300" y="419100"/>
            <a:ext cx="95250" cy="47625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5048" y="402908"/>
            <a:ext cx="1027288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岚禾小食适合合作方快速讲清、快速陈列、快速演示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3811" y="932021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招商核心不是堆参数，而是把产品、场景和经营数据组织成可复述的成交逻辑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562100"/>
            <a:ext cx="247650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874606" y="1861066"/>
            <a:ext cx="280299" cy="251777"/>
            <a:chOff x="874606" y="1861066"/>
            <a:chExt cx="280299" cy="251777"/>
          </a:xfrm>
        </p:grpSpPr>
        <p:sp>
          <p:nvSpPr>
            <p:cNvPr id="7" name="Freeform 7"/>
            <p:cNvSpPr/>
            <p:nvPr/>
          </p:nvSpPr>
          <p:spPr>
            <a:xfrm>
              <a:off x="874606" y="1861066"/>
              <a:ext cx="93253" cy="70803"/>
            </a:xfrm>
            <a:custGeom>
              <a:avLst/>
              <a:gdLst/>
              <a:ahLst/>
              <a:cxnLst/>
              <a:rect l="l" t="t" r="r" b="b"/>
              <a:pathLst>
                <a:path w="93253" h="70803">
                  <a:moveTo>
                    <a:pt x="87365" y="5887"/>
                  </a:moveTo>
                  <a:cubicBezTo>
                    <a:pt x="93253" y="11777"/>
                    <a:pt x="93253" y="21323"/>
                    <a:pt x="87365" y="27212"/>
                  </a:cubicBezTo>
                  <a:lnTo>
                    <a:pt x="49662" y="64915"/>
                  </a:lnTo>
                  <a:cubicBezTo>
                    <a:pt x="43773" y="70803"/>
                    <a:pt x="34226" y="70803"/>
                    <a:pt x="28337" y="64915"/>
                  </a:cubicBezTo>
                  <a:lnTo>
                    <a:pt x="5715" y="42293"/>
                  </a:lnTo>
                  <a:cubicBezTo>
                    <a:pt x="0" y="36376"/>
                    <a:pt x="82" y="26970"/>
                    <a:pt x="5899" y="21152"/>
                  </a:cubicBezTo>
                  <a:cubicBezTo>
                    <a:pt x="11716" y="15335"/>
                    <a:pt x="21123" y="15253"/>
                    <a:pt x="27040" y="20969"/>
                  </a:cubicBezTo>
                  <a:lnTo>
                    <a:pt x="39000" y="32928"/>
                  </a:lnTo>
                  <a:lnTo>
                    <a:pt x="66040" y="5887"/>
                  </a:lnTo>
                  <a:cubicBezTo>
                    <a:pt x="71929" y="0"/>
                    <a:pt x="81476" y="0"/>
                    <a:pt x="87365" y="5887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74606" y="1951553"/>
              <a:ext cx="93253" cy="70803"/>
            </a:xfrm>
            <a:custGeom>
              <a:avLst/>
              <a:gdLst/>
              <a:ahLst/>
              <a:cxnLst/>
              <a:rect l="l" t="t" r="r" b="b"/>
              <a:pathLst>
                <a:path w="93253" h="70803">
                  <a:moveTo>
                    <a:pt x="87365" y="5887"/>
                  </a:moveTo>
                  <a:cubicBezTo>
                    <a:pt x="93253" y="11777"/>
                    <a:pt x="93253" y="21323"/>
                    <a:pt x="87365" y="27212"/>
                  </a:cubicBezTo>
                  <a:lnTo>
                    <a:pt x="49662" y="64915"/>
                  </a:lnTo>
                  <a:cubicBezTo>
                    <a:pt x="43773" y="70803"/>
                    <a:pt x="34226" y="70803"/>
                    <a:pt x="28337" y="64915"/>
                  </a:cubicBezTo>
                  <a:lnTo>
                    <a:pt x="5715" y="42293"/>
                  </a:lnTo>
                  <a:cubicBezTo>
                    <a:pt x="0" y="36376"/>
                    <a:pt x="82" y="26970"/>
                    <a:pt x="5899" y="21152"/>
                  </a:cubicBezTo>
                  <a:cubicBezTo>
                    <a:pt x="11716" y="15335"/>
                    <a:pt x="21123" y="15253"/>
                    <a:pt x="27040" y="20969"/>
                  </a:cubicBezTo>
                  <a:lnTo>
                    <a:pt x="39000" y="32928"/>
                  </a:lnTo>
                  <a:lnTo>
                    <a:pt x="66040" y="5887"/>
                  </a:lnTo>
                  <a:cubicBezTo>
                    <a:pt x="71929" y="0"/>
                    <a:pt x="81476" y="0"/>
                    <a:pt x="87365" y="5887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4606" y="2042040"/>
              <a:ext cx="93253" cy="70803"/>
            </a:xfrm>
            <a:custGeom>
              <a:avLst/>
              <a:gdLst/>
              <a:ahLst/>
              <a:cxnLst/>
              <a:rect l="l" t="t" r="r" b="b"/>
              <a:pathLst>
                <a:path w="93253" h="70803">
                  <a:moveTo>
                    <a:pt x="87365" y="5887"/>
                  </a:moveTo>
                  <a:cubicBezTo>
                    <a:pt x="93253" y="11777"/>
                    <a:pt x="93253" y="21323"/>
                    <a:pt x="87365" y="27212"/>
                  </a:cubicBezTo>
                  <a:lnTo>
                    <a:pt x="49662" y="64915"/>
                  </a:lnTo>
                  <a:cubicBezTo>
                    <a:pt x="43773" y="70803"/>
                    <a:pt x="34226" y="70803"/>
                    <a:pt x="28337" y="64915"/>
                  </a:cubicBezTo>
                  <a:lnTo>
                    <a:pt x="5715" y="42293"/>
                  </a:lnTo>
                  <a:cubicBezTo>
                    <a:pt x="0" y="36376"/>
                    <a:pt x="82" y="26970"/>
                    <a:pt x="5899" y="21152"/>
                  </a:cubicBezTo>
                  <a:cubicBezTo>
                    <a:pt x="11716" y="15335"/>
                    <a:pt x="21123" y="15253"/>
                    <a:pt x="27040" y="20969"/>
                  </a:cubicBezTo>
                  <a:lnTo>
                    <a:pt x="39000" y="32928"/>
                  </a:lnTo>
                  <a:lnTo>
                    <a:pt x="66040" y="5887"/>
                  </a:lnTo>
                  <a:cubicBezTo>
                    <a:pt x="71929" y="0"/>
                    <a:pt x="81476" y="0"/>
                    <a:pt x="87365" y="5887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89012" y="1885156"/>
              <a:ext cx="165893" cy="30162"/>
            </a:xfrm>
            <a:custGeom>
              <a:avLst/>
              <a:gdLst/>
              <a:ahLst/>
              <a:cxnLst/>
              <a:rect l="l" t="t" r="r" b="b"/>
              <a:pathLst>
                <a:path w="165893" h="30162">
                  <a:moveTo>
                    <a:pt x="165893" y="15081"/>
                  </a:moveTo>
                  <a:cubicBezTo>
                    <a:pt x="165893" y="23410"/>
                    <a:pt x="159141" y="30162"/>
                    <a:pt x="150812" y="30162"/>
                  </a:cubicBezTo>
                  <a:lnTo>
                    <a:pt x="15081" y="30162"/>
                  </a:lnTo>
                  <a:cubicBezTo>
                    <a:pt x="6752" y="30162"/>
                    <a:pt x="0" y="23410"/>
                    <a:pt x="0" y="15081"/>
                  </a:cubicBezTo>
                  <a:cubicBezTo>
                    <a:pt x="0" y="6752"/>
                    <a:pt x="6752" y="0"/>
                    <a:pt x="15081" y="0"/>
                  </a:cubicBezTo>
                  <a:lnTo>
                    <a:pt x="150812" y="0"/>
                  </a:lnTo>
                  <a:cubicBezTo>
                    <a:pt x="159141" y="0"/>
                    <a:pt x="165893" y="6752"/>
                    <a:pt x="165893" y="15081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89012" y="1975643"/>
              <a:ext cx="165893" cy="30162"/>
            </a:xfrm>
            <a:custGeom>
              <a:avLst/>
              <a:gdLst/>
              <a:ahLst/>
              <a:cxnLst/>
              <a:rect l="l" t="t" r="r" b="b"/>
              <a:pathLst>
                <a:path w="165893" h="30162">
                  <a:moveTo>
                    <a:pt x="165893" y="15081"/>
                  </a:moveTo>
                  <a:cubicBezTo>
                    <a:pt x="165893" y="23410"/>
                    <a:pt x="159141" y="30162"/>
                    <a:pt x="150812" y="30162"/>
                  </a:cubicBezTo>
                  <a:lnTo>
                    <a:pt x="15081" y="30162"/>
                  </a:lnTo>
                  <a:cubicBezTo>
                    <a:pt x="6752" y="30162"/>
                    <a:pt x="0" y="23410"/>
                    <a:pt x="0" y="15081"/>
                  </a:cubicBezTo>
                  <a:cubicBezTo>
                    <a:pt x="0" y="6752"/>
                    <a:pt x="6752" y="0"/>
                    <a:pt x="15081" y="0"/>
                  </a:cubicBezTo>
                  <a:lnTo>
                    <a:pt x="150812" y="0"/>
                  </a:lnTo>
                  <a:cubicBezTo>
                    <a:pt x="159141" y="0"/>
                    <a:pt x="165893" y="6752"/>
                    <a:pt x="165893" y="15081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89012" y="2066131"/>
              <a:ext cx="165893" cy="30162"/>
            </a:xfrm>
            <a:custGeom>
              <a:avLst/>
              <a:gdLst/>
              <a:ahLst/>
              <a:cxnLst/>
              <a:rect l="l" t="t" r="r" b="b"/>
              <a:pathLst>
                <a:path w="165893" h="30162">
                  <a:moveTo>
                    <a:pt x="165893" y="15081"/>
                  </a:moveTo>
                  <a:cubicBezTo>
                    <a:pt x="165893" y="23410"/>
                    <a:pt x="159141" y="30162"/>
                    <a:pt x="150812" y="30162"/>
                  </a:cubicBezTo>
                  <a:lnTo>
                    <a:pt x="15081" y="30162"/>
                  </a:lnTo>
                  <a:cubicBezTo>
                    <a:pt x="6752" y="30162"/>
                    <a:pt x="0" y="23410"/>
                    <a:pt x="0" y="15081"/>
                  </a:cubicBezTo>
                  <a:cubicBezTo>
                    <a:pt x="0" y="6752"/>
                    <a:pt x="6752" y="0"/>
                    <a:pt x="15081" y="0"/>
                  </a:cubicBezTo>
                  <a:lnTo>
                    <a:pt x="150812" y="0"/>
                  </a:lnTo>
                  <a:cubicBezTo>
                    <a:pt x="159141" y="0"/>
                    <a:pt x="165893" y="6752"/>
                    <a:pt x="165893" y="15081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819150" y="2145982"/>
            <a:ext cx="39960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650" b="1" dirty="0">
                <a:solidFill>
                  <a:srgbClr val="2F5D5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8082" y="24212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登录门槛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0580" y="28384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后台公开演示，适合招商会现场打开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33750" y="1562100"/>
            <a:ext cx="247650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3645694" y="1839912"/>
            <a:ext cx="271676" cy="304918"/>
          </a:xfrm>
          <a:custGeom>
            <a:avLst/>
            <a:gdLst/>
            <a:ahLst/>
            <a:cxnLst/>
            <a:rect l="l" t="t" r="r" b="b"/>
            <a:pathLst>
              <a:path w="271676" h="304918">
                <a:moveTo>
                  <a:pt x="45244" y="0"/>
                </a:moveTo>
                <a:cubicBezTo>
                  <a:pt x="52889" y="1"/>
                  <a:pt x="59325" y="5723"/>
                  <a:pt x="60219" y="13317"/>
                </a:cubicBezTo>
                <a:lnTo>
                  <a:pt x="60325" y="15081"/>
                </a:lnTo>
                <a:lnTo>
                  <a:pt x="60325" y="31188"/>
                </a:lnTo>
                <a:lnTo>
                  <a:pt x="257451" y="45289"/>
                </a:lnTo>
                <a:cubicBezTo>
                  <a:pt x="265501" y="45859"/>
                  <a:pt x="271676" y="52665"/>
                  <a:pt x="271462" y="60732"/>
                </a:cubicBezTo>
                <a:lnTo>
                  <a:pt x="271311" y="62451"/>
                </a:lnTo>
                <a:lnTo>
                  <a:pt x="256230" y="168020"/>
                </a:lnTo>
                <a:cubicBezTo>
                  <a:pt x="255264" y="174819"/>
                  <a:pt x="249827" y="180108"/>
                  <a:pt x="243004" y="180884"/>
                </a:cubicBezTo>
                <a:lnTo>
                  <a:pt x="241299" y="180975"/>
                </a:lnTo>
                <a:lnTo>
                  <a:pt x="60325" y="180975"/>
                </a:lnTo>
                <a:lnTo>
                  <a:pt x="60325" y="211137"/>
                </a:lnTo>
                <a:lnTo>
                  <a:pt x="211137" y="211137"/>
                </a:lnTo>
                <a:cubicBezTo>
                  <a:pt x="235779" y="211138"/>
                  <a:pt x="255888" y="230860"/>
                  <a:pt x="256370" y="255497"/>
                </a:cubicBezTo>
                <a:cubicBezTo>
                  <a:pt x="256851" y="280135"/>
                  <a:pt x="237527" y="300626"/>
                  <a:pt x="212904" y="301590"/>
                </a:cubicBezTo>
                <a:cubicBezTo>
                  <a:pt x="188281" y="302553"/>
                  <a:pt x="167414" y="283635"/>
                  <a:pt x="165969" y="259035"/>
                </a:cubicBezTo>
                <a:lnTo>
                  <a:pt x="165893" y="256381"/>
                </a:lnTo>
                <a:lnTo>
                  <a:pt x="165969" y="253726"/>
                </a:lnTo>
                <a:cubicBezTo>
                  <a:pt x="166225" y="249383"/>
                  <a:pt x="167085" y="245221"/>
                  <a:pt x="168472" y="241299"/>
                </a:cubicBezTo>
                <a:lnTo>
                  <a:pt x="87908" y="241299"/>
                </a:lnTo>
                <a:cubicBezTo>
                  <a:pt x="93787" y="257973"/>
                  <a:pt x="89415" y="276543"/>
                  <a:pt x="76715" y="288842"/>
                </a:cubicBezTo>
                <a:cubicBezTo>
                  <a:pt x="64016" y="301142"/>
                  <a:pt x="45316" y="304918"/>
                  <a:pt x="28839" y="298510"/>
                </a:cubicBezTo>
                <a:cubicBezTo>
                  <a:pt x="12362" y="292101"/>
                  <a:pt x="1127" y="276683"/>
                  <a:pt x="75" y="259035"/>
                </a:cubicBezTo>
                <a:lnTo>
                  <a:pt x="0" y="256381"/>
                </a:lnTo>
                <a:lnTo>
                  <a:pt x="75" y="253726"/>
                </a:lnTo>
                <a:cubicBezTo>
                  <a:pt x="1142" y="235548"/>
                  <a:pt x="12997" y="219778"/>
                  <a:pt x="30162" y="213701"/>
                </a:cubicBezTo>
                <a:lnTo>
                  <a:pt x="30162" y="30162"/>
                </a:lnTo>
                <a:lnTo>
                  <a:pt x="15081" y="30162"/>
                </a:lnTo>
                <a:cubicBezTo>
                  <a:pt x="7435" y="30161"/>
                  <a:pt x="1000" y="24439"/>
                  <a:pt x="106" y="16846"/>
                </a:cubicBezTo>
                <a:lnTo>
                  <a:pt x="0" y="15081"/>
                </a:lnTo>
                <a:cubicBezTo>
                  <a:pt x="1" y="7435"/>
                  <a:pt x="5723" y="1000"/>
                  <a:pt x="13317" y="106"/>
                </a:cubicBezTo>
                <a:lnTo>
                  <a:pt x="15081" y="0"/>
                </a:lnTo>
                <a:lnTo>
                  <a:pt x="45244" y="0"/>
                </a:lnTo>
                <a:close/>
                <a:moveTo>
                  <a:pt x="45244" y="241299"/>
                </a:moveTo>
                <a:cubicBezTo>
                  <a:pt x="36915" y="241299"/>
                  <a:pt x="30162" y="248052"/>
                  <a:pt x="30162" y="256381"/>
                </a:cubicBezTo>
                <a:cubicBezTo>
                  <a:pt x="30162" y="264710"/>
                  <a:pt x="36915" y="271462"/>
                  <a:pt x="45244" y="271462"/>
                </a:cubicBezTo>
                <a:cubicBezTo>
                  <a:pt x="53573" y="271462"/>
                  <a:pt x="60325" y="264710"/>
                  <a:pt x="60325" y="256381"/>
                </a:cubicBezTo>
                <a:cubicBezTo>
                  <a:pt x="60325" y="248052"/>
                  <a:pt x="53573" y="241299"/>
                  <a:pt x="45244" y="241299"/>
                </a:cubicBezTo>
                <a:moveTo>
                  <a:pt x="211137" y="241299"/>
                </a:moveTo>
                <a:cubicBezTo>
                  <a:pt x="202808" y="241299"/>
                  <a:pt x="196056" y="248052"/>
                  <a:pt x="196056" y="256381"/>
                </a:cubicBezTo>
                <a:cubicBezTo>
                  <a:pt x="196056" y="264710"/>
                  <a:pt x="202808" y="271462"/>
                  <a:pt x="211137" y="271462"/>
                </a:cubicBezTo>
                <a:cubicBezTo>
                  <a:pt x="219466" y="271462"/>
                  <a:pt x="226218" y="264710"/>
                  <a:pt x="226218" y="256381"/>
                </a:cubicBezTo>
                <a:cubicBezTo>
                  <a:pt x="226218" y="248052"/>
                  <a:pt x="219466" y="241299"/>
                  <a:pt x="211137" y="241299"/>
                </a:cubicBezTo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581400" y="2145982"/>
            <a:ext cx="39960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650" b="1" dirty="0">
                <a:solidFill>
                  <a:srgbClr val="2F5D5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1282" y="242125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步购买链路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92830" y="283845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筛选、详情、购物车、地址、下单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1562100"/>
            <a:ext cx="247650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389148" y="1839910"/>
            <a:ext cx="309597" cy="306084"/>
          </a:xfrm>
          <a:custGeom>
            <a:avLst/>
            <a:gdLst/>
            <a:ahLst/>
            <a:cxnLst/>
            <a:rect l="l" t="t" r="r" b="b"/>
            <a:pathLst>
              <a:path w="309597" h="306084">
                <a:moveTo>
                  <a:pt x="199770" y="3"/>
                </a:moveTo>
                <a:cubicBezTo>
                  <a:pt x="227454" y="0"/>
                  <a:pt x="251587" y="18841"/>
                  <a:pt x="258300" y="45699"/>
                </a:cubicBezTo>
                <a:lnTo>
                  <a:pt x="258541" y="46785"/>
                </a:lnTo>
                <a:lnTo>
                  <a:pt x="259748" y="47071"/>
                </a:lnTo>
                <a:cubicBezTo>
                  <a:pt x="279911" y="52147"/>
                  <a:pt x="296039" y="67250"/>
                  <a:pt x="302428" y="87036"/>
                </a:cubicBezTo>
                <a:lnTo>
                  <a:pt x="303287" y="89947"/>
                </a:lnTo>
                <a:cubicBezTo>
                  <a:pt x="309597" y="113466"/>
                  <a:pt x="301148" y="138473"/>
                  <a:pt x="281867" y="153345"/>
                </a:cubicBezTo>
                <a:cubicBezTo>
                  <a:pt x="262585" y="168217"/>
                  <a:pt x="236253" y="170039"/>
                  <a:pt x="215107" y="157963"/>
                </a:cubicBezTo>
                <a:lnTo>
                  <a:pt x="214399" y="157526"/>
                </a:lnTo>
                <a:lnTo>
                  <a:pt x="161237" y="210687"/>
                </a:lnTo>
                <a:lnTo>
                  <a:pt x="161871" y="211743"/>
                </a:lnTo>
                <a:cubicBezTo>
                  <a:pt x="171527" y="228920"/>
                  <a:pt x="172186" y="249730"/>
                  <a:pt x="163635" y="267483"/>
                </a:cubicBezTo>
                <a:lnTo>
                  <a:pt x="162097" y="270454"/>
                </a:lnTo>
                <a:cubicBezTo>
                  <a:pt x="149120" y="293977"/>
                  <a:pt x="122152" y="306084"/>
                  <a:pt x="95951" y="300149"/>
                </a:cubicBezTo>
                <a:cubicBezTo>
                  <a:pt x="73930" y="295146"/>
                  <a:pt x="56564" y="278234"/>
                  <a:pt x="50979" y="256353"/>
                </a:cubicBezTo>
                <a:lnTo>
                  <a:pt x="50632" y="254921"/>
                </a:lnTo>
                <a:lnTo>
                  <a:pt x="48550" y="254423"/>
                </a:lnTo>
                <a:cubicBezTo>
                  <a:pt x="27954" y="248929"/>
                  <a:pt x="11787" y="232974"/>
                  <a:pt x="6021" y="212452"/>
                </a:cubicBezTo>
                <a:lnTo>
                  <a:pt x="5267" y="209451"/>
                </a:lnTo>
                <a:cubicBezTo>
                  <a:pt x="0" y="186184"/>
                  <a:pt x="8938" y="161999"/>
                  <a:pt x="28071" y="147749"/>
                </a:cubicBezTo>
                <a:cubicBezTo>
                  <a:pt x="47203" y="133500"/>
                  <a:pt x="72936" y="131864"/>
                  <a:pt x="93719" y="143576"/>
                </a:cubicBezTo>
                <a:lnTo>
                  <a:pt x="94744" y="144179"/>
                </a:lnTo>
                <a:lnTo>
                  <a:pt x="147890" y="91033"/>
                </a:lnTo>
                <a:lnTo>
                  <a:pt x="147348" y="90113"/>
                </a:lnTo>
                <a:cubicBezTo>
                  <a:pt x="138773" y="74962"/>
                  <a:pt x="137162" y="56846"/>
                  <a:pt x="142929" y="40420"/>
                </a:cubicBezTo>
                <a:lnTo>
                  <a:pt x="144120" y="37329"/>
                </a:lnTo>
                <a:cubicBezTo>
                  <a:pt x="153453" y="14785"/>
                  <a:pt x="175446" y="83"/>
                  <a:pt x="199845" y="78"/>
                </a:cubicBezTo>
                <a:lnTo>
                  <a:pt x="197749" y="138"/>
                </a:lnTo>
                <a:lnTo>
                  <a:pt x="198051" y="93"/>
                </a:lnTo>
                <a:close/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43650" y="2145982"/>
            <a:ext cx="39960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650" b="1" dirty="0">
                <a:solidFill>
                  <a:srgbClr val="D6A75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23532" y="242125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类主推零食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55080" y="283845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鸡肉、冻干、洁齿、训练奖励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858250" y="1562100"/>
            <a:ext cx="2762250" cy="177165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9142393" y="1854297"/>
            <a:ext cx="327064" cy="272159"/>
          </a:xfrm>
          <a:custGeom>
            <a:avLst/>
            <a:gdLst/>
            <a:ahLst/>
            <a:cxnLst/>
            <a:rect l="l" t="t" r="r" b="b"/>
            <a:pathLst>
              <a:path w="327064" h="272159">
                <a:moveTo>
                  <a:pt x="163532" y="3"/>
                </a:moveTo>
                <a:cubicBezTo>
                  <a:pt x="227672" y="0"/>
                  <a:pt x="284797" y="40566"/>
                  <a:pt x="305930" y="101124"/>
                </a:cubicBezTo>
                <a:cubicBezTo>
                  <a:pt x="327064" y="161682"/>
                  <a:pt x="307583" y="228982"/>
                  <a:pt x="257367" y="268886"/>
                </a:cubicBezTo>
                <a:cubicBezTo>
                  <a:pt x="254700" y="271005"/>
                  <a:pt x="251394" y="272159"/>
                  <a:pt x="247987" y="272159"/>
                </a:cubicBezTo>
                <a:lnTo>
                  <a:pt x="79077" y="272159"/>
                </a:lnTo>
                <a:cubicBezTo>
                  <a:pt x="75671" y="272159"/>
                  <a:pt x="72364" y="271005"/>
                  <a:pt x="69697" y="268886"/>
                </a:cubicBezTo>
                <a:cubicBezTo>
                  <a:pt x="19482" y="228982"/>
                  <a:pt x="0" y="161682"/>
                  <a:pt x="21134" y="101124"/>
                </a:cubicBezTo>
                <a:cubicBezTo>
                  <a:pt x="42267" y="40566"/>
                  <a:pt x="99392" y="0"/>
                  <a:pt x="163532" y="3"/>
                </a:cubicBezTo>
                <a:moveTo>
                  <a:pt x="226979" y="88063"/>
                </a:moveTo>
                <a:cubicBezTo>
                  <a:pt x="221090" y="82175"/>
                  <a:pt x="211543" y="82175"/>
                  <a:pt x="205654" y="88063"/>
                </a:cubicBezTo>
                <a:lnTo>
                  <a:pt x="171329" y="122357"/>
                </a:lnTo>
                <a:cubicBezTo>
                  <a:pt x="162572" y="120029"/>
                  <a:pt x="153232" y="121755"/>
                  <a:pt x="145886" y="127059"/>
                </a:cubicBezTo>
                <a:cubicBezTo>
                  <a:pt x="138539" y="132363"/>
                  <a:pt x="133961" y="140685"/>
                  <a:pt x="133415" y="149730"/>
                </a:cubicBezTo>
                <a:lnTo>
                  <a:pt x="133370" y="151509"/>
                </a:lnTo>
                <a:cubicBezTo>
                  <a:pt x="133391" y="163217"/>
                  <a:pt x="140185" y="173854"/>
                  <a:pt x="150798" y="178796"/>
                </a:cubicBezTo>
                <a:cubicBezTo>
                  <a:pt x="161411" y="183739"/>
                  <a:pt x="173925" y="182094"/>
                  <a:pt x="182900" y="174577"/>
                </a:cubicBezTo>
                <a:cubicBezTo>
                  <a:pt x="191875" y="167059"/>
                  <a:pt x="195689" y="155027"/>
                  <a:pt x="192684" y="143712"/>
                </a:cubicBezTo>
                <a:lnTo>
                  <a:pt x="226979" y="109387"/>
                </a:lnTo>
                <a:cubicBezTo>
                  <a:pt x="232866" y="103498"/>
                  <a:pt x="232866" y="93952"/>
                  <a:pt x="226979" y="88063"/>
                </a:cubicBezTo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05900" y="2145982"/>
            <a:ext cx="39960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650" b="1" dirty="0">
                <a:solidFill>
                  <a:srgbClr val="D6A7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5782" y="242125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套经营后台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17330" y="283845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订单、营业额、销量排行同步展示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733800"/>
            <a:ext cx="5238750" cy="1905000"/>
          </a:xfrm>
          <a:prstGeom prst="roundRect">
            <a:avLst>
              <a:gd name="adj" fmla="val 9000"/>
            </a:avLst>
          </a:prstGeom>
          <a:solidFill>
            <a:srgbClr val="EEF4EC"/>
          </a:solidFill>
          <a:ln w="14288">
            <a:solidFill>
              <a:srgbClr val="DDE6D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65632" y="39833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招商表达重点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7156" y="445389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产品标准清楚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7156" y="48158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消费场景明确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7156" y="51777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经营数据能被演示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3733800"/>
            <a:ext cx="5524500" cy="1905000"/>
          </a:xfrm>
          <a:prstGeom prst="roundRect">
            <a:avLst>
              <a:gd name="adj" fmla="val 9000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6553200" y="4133850"/>
            <a:ext cx="304801" cy="382882"/>
          </a:xfrm>
          <a:custGeom>
            <a:avLst/>
            <a:gdLst/>
            <a:ahLst/>
            <a:cxnLst/>
            <a:rect l="l" t="t" r="r" b="b"/>
            <a:pathLst>
              <a:path w="304801" h="382882">
                <a:moveTo>
                  <a:pt x="247650" y="0"/>
                </a:moveTo>
                <a:cubicBezTo>
                  <a:pt x="279213" y="0"/>
                  <a:pt x="304800" y="25587"/>
                  <a:pt x="304800" y="57150"/>
                </a:cubicBezTo>
                <a:lnTo>
                  <a:pt x="304800" y="361950"/>
                </a:lnTo>
                <a:cubicBezTo>
                  <a:pt x="304801" y="368977"/>
                  <a:pt x="300933" y="375434"/>
                  <a:pt x="294737" y="378750"/>
                </a:cubicBezTo>
                <a:cubicBezTo>
                  <a:pt x="288541" y="382065"/>
                  <a:pt x="281023" y="381700"/>
                  <a:pt x="275177" y="377800"/>
                </a:cubicBezTo>
                <a:lnTo>
                  <a:pt x="231019" y="348367"/>
                </a:lnTo>
                <a:lnTo>
                  <a:pt x="203968" y="375418"/>
                </a:lnTo>
                <a:cubicBezTo>
                  <a:pt x="197181" y="382205"/>
                  <a:pt x="186406" y="382882"/>
                  <a:pt x="178822" y="376999"/>
                </a:cubicBezTo>
                <a:lnTo>
                  <a:pt x="177032" y="375418"/>
                </a:lnTo>
                <a:lnTo>
                  <a:pt x="152400" y="350806"/>
                </a:lnTo>
                <a:lnTo>
                  <a:pt x="127768" y="375418"/>
                </a:lnTo>
                <a:cubicBezTo>
                  <a:pt x="120981" y="382205"/>
                  <a:pt x="110206" y="382882"/>
                  <a:pt x="102622" y="376999"/>
                </a:cubicBezTo>
                <a:lnTo>
                  <a:pt x="100832" y="375418"/>
                </a:lnTo>
                <a:lnTo>
                  <a:pt x="73762" y="348367"/>
                </a:lnTo>
                <a:lnTo>
                  <a:pt x="29623" y="377800"/>
                </a:lnTo>
                <a:lnTo>
                  <a:pt x="29261" y="378028"/>
                </a:lnTo>
                <a:lnTo>
                  <a:pt x="28232" y="378600"/>
                </a:lnTo>
                <a:lnTo>
                  <a:pt x="27699" y="378924"/>
                </a:lnTo>
                <a:lnTo>
                  <a:pt x="26670" y="379362"/>
                </a:lnTo>
                <a:lnTo>
                  <a:pt x="25718" y="379800"/>
                </a:lnTo>
                <a:lnTo>
                  <a:pt x="24784" y="380086"/>
                </a:lnTo>
                <a:lnTo>
                  <a:pt x="23641" y="380448"/>
                </a:lnTo>
                <a:lnTo>
                  <a:pt x="22650" y="380619"/>
                </a:lnTo>
                <a:lnTo>
                  <a:pt x="21565" y="380829"/>
                </a:lnTo>
                <a:lnTo>
                  <a:pt x="19964" y="380943"/>
                </a:lnTo>
                <a:lnTo>
                  <a:pt x="19469" y="381000"/>
                </a:lnTo>
                <a:lnTo>
                  <a:pt x="19050" y="381000"/>
                </a:lnTo>
                <a:lnTo>
                  <a:pt x="18117" y="380943"/>
                </a:lnTo>
                <a:lnTo>
                  <a:pt x="17374" y="380943"/>
                </a:lnTo>
                <a:lnTo>
                  <a:pt x="17126" y="380886"/>
                </a:lnTo>
                <a:lnTo>
                  <a:pt x="16821" y="380886"/>
                </a:lnTo>
                <a:lnTo>
                  <a:pt x="16040" y="380733"/>
                </a:lnTo>
                <a:lnTo>
                  <a:pt x="15316" y="380638"/>
                </a:lnTo>
                <a:lnTo>
                  <a:pt x="15030" y="380543"/>
                </a:lnTo>
                <a:lnTo>
                  <a:pt x="14688" y="380505"/>
                </a:lnTo>
                <a:lnTo>
                  <a:pt x="14040" y="380295"/>
                </a:lnTo>
                <a:lnTo>
                  <a:pt x="13278" y="380105"/>
                </a:lnTo>
                <a:lnTo>
                  <a:pt x="12916" y="379971"/>
                </a:lnTo>
                <a:lnTo>
                  <a:pt x="12630" y="379895"/>
                </a:lnTo>
                <a:lnTo>
                  <a:pt x="12078" y="379647"/>
                </a:lnTo>
                <a:lnTo>
                  <a:pt x="11316" y="379362"/>
                </a:lnTo>
                <a:lnTo>
                  <a:pt x="10916" y="379152"/>
                </a:lnTo>
                <a:lnTo>
                  <a:pt x="10668" y="379057"/>
                </a:lnTo>
                <a:lnTo>
                  <a:pt x="10135" y="378752"/>
                </a:lnTo>
                <a:lnTo>
                  <a:pt x="9449" y="378409"/>
                </a:lnTo>
                <a:lnTo>
                  <a:pt x="9182" y="378219"/>
                </a:lnTo>
                <a:lnTo>
                  <a:pt x="8839" y="378028"/>
                </a:lnTo>
                <a:lnTo>
                  <a:pt x="8115" y="377514"/>
                </a:lnTo>
                <a:lnTo>
                  <a:pt x="7696" y="377247"/>
                </a:lnTo>
                <a:lnTo>
                  <a:pt x="7506" y="377076"/>
                </a:lnTo>
                <a:lnTo>
                  <a:pt x="7125" y="376809"/>
                </a:lnTo>
                <a:lnTo>
                  <a:pt x="6267" y="376028"/>
                </a:lnTo>
                <a:lnTo>
                  <a:pt x="6039" y="375876"/>
                </a:lnTo>
                <a:lnTo>
                  <a:pt x="5582" y="375418"/>
                </a:lnTo>
                <a:lnTo>
                  <a:pt x="4915" y="374675"/>
                </a:lnTo>
                <a:lnTo>
                  <a:pt x="4534" y="374294"/>
                </a:lnTo>
                <a:lnTo>
                  <a:pt x="4401" y="374085"/>
                </a:lnTo>
                <a:lnTo>
                  <a:pt x="4191" y="373856"/>
                </a:lnTo>
                <a:lnTo>
                  <a:pt x="3581" y="372999"/>
                </a:lnTo>
                <a:lnTo>
                  <a:pt x="3200" y="372523"/>
                </a:lnTo>
                <a:lnTo>
                  <a:pt x="2972" y="372161"/>
                </a:lnTo>
                <a:lnTo>
                  <a:pt x="2400" y="371132"/>
                </a:lnTo>
                <a:lnTo>
                  <a:pt x="2076" y="370599"/>
                </a:lnTo>
                <a:lnTo>
                  <a:pt x="1638" y="369570"/>
                </a:lnTo>
                <a:lnTo>
                  <a:pt x="1200" y="368617"/>
                </a:lnTo>
                <a:cubicBezTo>
                  <a:pt x="946" y="367944"/>
                  <a:pt x="729" y="367258"/>
                  <a:pt x="552" y="366560"/>
                </a:cubicBezTo>
                <a:lnTo>
                  <a:pt x="362" y="365474"/>
                </a:lnTo>
                <a:lnTo>
                  <a:pt x="171" y="364465"/>
                </a:lnTo>
                <a:lnTo>
                  <a:pt x="0" y="361950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  <a:moveTo>
                  <a:pt x="220123" y="79400"/>
                </a:moveTo>
                <a:cubicBezTo>
                  <a:pt x="215919" y="76596"/>
                  <a:pt x="210774" y="75576"/>
                  <a:pt x="205819" y="76566"/>
                </a:cubicBezTo>
                <a:cubicBezTo>
                  <a:pt x="200863" y="77555"/>
                  <a:pt x="196504" y="80473"/>
                  <a:pt x="193700" y="84677"/>
                </a:cubicBezTo>
                <a:lnTo>
                  <a:pt x="152400" y="146628"/>
                </a:lnTo>
                <a:lnTo>
                  <a:pt x="111100" y="84677"/>
                </a:lnTo>
                <a:cubicBezTo>
                  <a:pt x="105260" y="75924"/>
                  <a:pt x="93431" y="73561"/>
                  <a:pt x="84677" y="79400"/>
                </a:cubicBezTo>
                <a:cubicBezTo>
                  <a:pt x="75924" y="85240"/>
                  <a:pt x="73561" y="97069"/>
                  <a:pt x="79400" y="105823"/>
                </a:cubicBezTo>
                <a:lnTo>
                  <a:pt x="123158" y="171450"/>
                </a:lnTo>
                <a:lnTo>
                  <a:pt x="95250" y="171450"/>
                </a:lnTo>
                <a:cubicBezTo>
                  <a:pt x="84729" y="171450"/>
                  <a:pt x="76200" y="179979"/>
                  <a:pt x="76200" y="190500"/>
                </a:cubicBezTo>
                <a:cubicBezTo>
                  <a:pt x="76200" y="201021"/>
                  <a:pt x="84729" y="209550"/>
                  <a:pt x="95250" y="209550"/>
                </a:cubicBezTo>
                <a:lnTo>
                  <a:pt x="133350" y="209550"/>
                </a:lnTo>
                <a:lnTo>
                  <a:pt x="133350" y="266700"/>
                </a:lnTo>
                <a:cubicBezTo>
                  <a:pt x="133350" y="277221"/>
                  <a:pt x="141879" y="285750"/>
                  <a:pt x="152400" y="285750"/>
                </a:cubicBezTo>
                <a:lnTo>
                  <a:pt x="154629" y="285617"/>
                </a:lnTo>
                <a:cubicBezTo>
                  <a:pt x="164220" y="284487"/>
                  <a:pt x="171449" y="276358"/>
                  <a:pt x="171450" y="266700"/>
                </a:cubicBezTo>
                <a:lnTo>
                  <a:pt x="171450" y="209550"/>
                </a:lnTo>
                <a:lnTo>
                  <a:pt x="209550" y="209550"/>
                </a:lnTo>
                <a:cubicBezTo>
                  <a:pt x="220071" y="209550"/>
                  <a:pt x="228600" y="201021"/>
                  <a:pt x="228600" y="190500"/>
                </a:cubicBezTo>
                <a:cubicBezTo>
                  <a:pt x="228600" y="179979"/>
                  <a:pt x="220071" y="171450"/>
                  <a:pt x="209550" y="171450"/>
                </a:cubicBezTo>
                <a:lnTo>
                  <a:pt x="181642" y="171450"/>
                </a:lnTo>
                <a:lnTo>
                  <a:pt x="225400" y="105823"/>
                </a:lnTo>
                <a:cubicBezTo>
                  <a:pt x="228204" y="101619"/>
                  <a:pt x="229224" y="96474"/>
                  <a:pt x="228234" y="91519"/>
                </a:cubicBezTo>
                <a:cubicBezTo>
                  <a:pt x="227245" y="86563"/>
                  <a:pt x="224327" y="82204"/>
                  <a:pt x="220123" y="7940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170420" y="4119562"/>
            <a:ext cx="224913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一句话招商主张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72706" y="4644390"/>
            <a:ext cx="33339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让合作方不只拿到一组 SKU，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72706" y="49872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还能拿到一套可复制的陈列和复购话术。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785" y="6298406"/>
            <a:ext cx="23275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岚禾小食网页与项目代码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4736" y="424815"/>
            <a:ext cx="9409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三条产品标准把“天然”变成可复述的导购语言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880" y="981075"/>
            <a:ext cx="60731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从详情页字段出发，形成门店、私域和团购都能直接使用的产品说明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19048" t="0" r="19048" b="0"/>
          <a:stretch>
            <a:fillRect/>
          </a:stretch>
        </p:blipFill>
        <p:spPr>
          <a:xfrm>
            <a:off x="7543800" y="1428750"/>
            <a:ext cx="3714750" cy="40005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7296150" y="1200150"/>
            <a:ext cx="4229100" cy="4476750"/>
          </a:xfrm>
          <a:prstGeom prst="roundRect">
            <a:avLst>
              <a:gd name="adj" fmla="val 4955"/>
            </a:avLst>
          </a:prstGeom>
          <a:noFill/>
          <a:ln w="19050">
            <a:solidFill>
              <a:srgbClr val="DDE6DB"/>
            </a:solidFill>
          </a:ln>
        </p:spPr>
      </p:sp>
      <p:sp>
        <p:nvSpPr>
          <p:cNvPr id="7" name="Line 7"/>
          <p:cNvSpPr/>
          <p:nvPr/>
        </p:nvSpPr>
        <p:spPr>
          <a:xfrm>
            <a:off x="1352550" y="1676400"/>
            <a:ext cx="9525" cy="3714750"/>
          </a:xfrm>
          <a:custGeom>
            <a:avLst/>
            <a:gdLst/>
            <a:ahLst/>
            <a:cxnLst/>
            <a:rect l="l" t="t" r="r" b="b"/>
            <a:pathLst>
              <a:path w="952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47625" cap="rnd">
            <a:solidFill>
              <a:srgbClr val="8EB69B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104900" y="1790700"/>
            <a:ext cx="495300" cy="4953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236393" y="1927225"/>
            <a:ext cx="232303" cy="222369"/>
          </a:xfrm>
          <a:custGeom>
            <a:avLst/>
            <a:gdLst/>
            <a:ahLst/>
            <a:cxnLst/>
            <a:rect l="l" t="t" r="r" b="b"/>
            <a:pathLst>
              <a:path w="232303" h="222369">
                <a:moveTo>
                  <a:pt x="116135" y="0"/>
                </a:moveTo>
                <a:lnTo>
                  <a:pt x="117446" y="78"/>
                </a:lnTo>
                <a:lnTo>
                  <a:pt x="118102" y="167"/>
                </a:lnTo>
                <a:lnTo>
                  <a:pt x="118780" y="311"/>
                </a:lnTo>
                <a:lnTo>
                  <a:pt x="120013" y="689"/>
                </a:lnTo>
                <a:cubicBezTo>
                  <a:pt x="120865" y="1003"/>
                  <a:pt x="121675" y="1421"/>
                  <a:pt x="122424" y="1934"/>
                </a:cubicBezTo>
                <a:lnTo>
                  <a:pt x="123580" y="2845"/>
                </a:lnTo>
                <a:lnTo>
                  <a:pt x="126414" y="5267"/>
                </a:lnTo>
                <a:cubicBezTo>
                  <a:pt x="148831" y="23887"/>
                  <a:pt x="177163" y="33885"/>
                  <a:pt x="206302" y="33460"/>
                </a:cubicBezTo>
                <a:lnTo>
                  <a:pt x="210102" y="33349"/>
                </a:lnTo>
                <a:cubicBezTo>
                  <a:pt x="215216" y="33115"/>
                  <a:pt x="219827" y="36405"/>
                  <a:pt x="221270" y="41316"/>
                </a:cubicBezTo>
                <a:cubicBezTo>
                  <a:pt x="232303" y="78847"/>
                  <a:pt x="227645" y="119246"/>
                  <a:pt x="208359" y="153280"/>
                </a:cubicBezTo>
                <a:cubicBezTo>
                  <a:pt x="189074" y="187314"/>
                  <a:pt x="156811" y="212073"/>
                  <a:pt x="118946" y="221895"/>
                </a:cubicBezTo>
                <a:cubicBezTo>
                  <a:pt x="117117" y="222369"/>
                  <a:pt x="115197" y="222369"/>
                  <a:pt x="113368" y="221895"/>
                </a:cubicBezTo>
                <a:cubicBezTo>
                  <a:pt x="75501" y="212075"/>
                  <a:pt x="43235" y="187318"/>
                  <a:pt x="23948" y="153284"/>
                </a:cubicBezTo>
                <a:cubicBezTo>
                  <a:pt x="4660" y="119249"/>
                  <a:pt x="0" y="78848"/>
                  <a:pt x="11032" y="41316"/>
                </a:cubicBezTo>
                <a:cubicBezTo>
                  <a:pt x="12476" y="36405"/>
                  <a:pt x="17087" y="33115"/>
                  <a:pt x="22201" y="33349"/>
                </a:cubicBezTo>
                <a:cubicBezTo>
                  <a:pt x="52621" y="34739"/>
                  <a:pt x="82465" y="24725"/>
                  <a:pt x="105889" y="5267"/>
                </a:cubicBezTo>
                <a:lnTo>
                  <a:pt x="108812" y="2767"/>
                </a:lnTo>
                <a:lnTo>
                  <a:pt x="109878" y="1934"/>
                </a:lnTo>
                <a:cubicBezTo>
                  <a:pt x="110628" y="1421"/>
                  <a:pt x="111438" y="1003"/>
                  <a:pt x="112290" y="689"/>
                </a:cubicBezTo>
                <a:lnTo>
                  <a:pt x="113534" y="311"/>
                </a:lnTo>
                <a:cubicBezTo>
                  <a:pt x="113970" y="206"/>
                  <a:pt x="114412" y="128"/>
                  <a:pt x="114857" y="78"/>
                </a:cubicBezTo>
                <a:lnTo>
                  <a:pt x="116135" y="0"/>
                </a:lnTo>
                <a:close/>
                <a:moveTo>
                  <a:pt x="157362" y="81044"/>
                </a:moveTo>
                <a:cubicBezTo>
                  <a:pt x="155278" y="78957"/>
                  <a:pt x="152450" y="77785"/>
                  <a:pt x="149500" y="77785"/>
                </a:cubicBezTo>
                <a:cubicBezTo>
                  <a:pt x="146551" y="77785"/>
                  <a:pt x="143722" y="78957"/>
                  <a:pt x="141638" y="81044"/>
                </a:cubicBezTo>
                <a:lnTo>
                  <a:pt x="105044" y="117626"/>
                </a:lnTo>
                <a:lnTo>
                  <a:pt x="90676" y="103269"/>
                </a:lnTo>
                <a:lnTo>
                  <a:pt x="89631" y="102346"/>
                </a:lnTo>
                <a:cubicBezTo>
                  <a:pt x="84996" y="98762"/>
                  <a:pt x="78374" y="99393"/>
                  <a:pt x="74499" y="103788"/>
                </a:cubicBezTo>
                <a:cubicBezTo>
                  <a:pt x="70624" y="108183"/>
                  <a:pt x="70827" y="114832"/>
                  <a:pt x="74963" y="118982"/>
                </a:cubicBezTo>
                <a:lnTo>
                  <a:pt x="97188" y="141207"/>
                </a:lnTo>
                <a:lnTo>
                  <a:pt x="98233" y="142129"/>
                </a:lnTo>
                <a:cubicBezTo>
                  <a:pt x="102656" y="145561"/>
                  <a:pt x="108942" y="145166"/>
                  <a:pt x="112901" y="141207"/>
                </a:cubicBezTo>
                <a:lnTo>
                  <a:pt x="157351" y="96757"/>
                </a:lnTo>
                <a:lnTo>
                  <a:pt x="158274" y="95712"/>
                </a:lnTo>
                <a:cubicBezTo>
                  <a:pt x="161705" y="91289"/>
                  <a:pt x="161310" y="85003"/>
                  <a:pt x="157351" y="810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809750" y="1600200"/>
            <a:ext cx="49530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085213" y="1753076"/>
            <a:ext cx="488658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配方可信：成分、适用、适口性写清楚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8261" y="2132171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详情弹窗里保留配料、适用文案、卖点标签，便于导购复述。</a:t>
            </a:r>
          </a:p>
        </p:txBody>
      </p:sp>
      <p:sp>
        <p:nvSpPr>
          <p:cNvPr id="13" name="Ellipse 13"/>
          <p:cNvSpPr/>
          <p:nvPr/>
        </p:nvSpPr>
        <p:spPr>
          <a:xfrm>
            <a:off x="1104900" y="3181350"/>
            <a:ext cx="495300" cy="495300"/>
          </a:xfrm>
          <a:prstGeom prst="ellipse">
            <a:avLst/>
          </a:prstGeom>
          <a:solidFill>
            <a:srgbClr val="D6A756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241425" y="3350130"/>
            <a:ext cx="228611" cy="182599"/>
            <a:chOff x="1241425" y="3350130"/>
            <a:chExt cx="228611" cy="182599"/>
          </a:xfrm>
        </p:grpSpPr>
        <p:sp>
          <p:nvSpPr>
            <p:cNvPr id="14" name="Freeform 14"/>
            <p:cNvSpPr/>
            <p:nvPr/>
          </p:nvSpPr>
          <p:spPr>
            <a:xfrm>
              <a:off x="1241425" y="3351213"/>
              <a:ext cx="181516" cy="181516"/>
            </a:xfrm>
            <a:custGeom>
              <a:avLst/>
              <a:gdLst/>
              <a:ahLst/>
              <a:cxnLst/>
              <a:rect l="l" t="t" r="r" b="b"/>
              <a:pathLst>
                <a:path w="181516" h="181516">
                  <a:moveTo>
                    <a:pt x="79699" y="0"/>
                  </a:moveTo>
                  <a:cubicBezTo>
                    <a:pt x="88540" y="2"/>
                    <a:pt x="97018" y="3515"/>
                    <a:pt x="103269" y="9768"/>
                  </a:cubicBezTo>
                  <a:lnTo>
                    <a:pt x="166721" y="73220"/>
                  </a:lnTo>
                  <a:cubicBezTo>
                    <a:pt x="181516" y="88018"/>
                    <a:pt x="181516" y="112007"/>
                    <a:pt x="166721" y="126805"/>
                  </a:cubicBezTo>
                  <a:lnTo>
                    <a:pt x="126805" y="166721"/>
                  </a:lnTo>
                  <a:cubicBezTo>
                    <a:pt x="112007" y="181516"/>
                    <a:pt x="88018" y="181516"/>
                    <a:pt x="73220" y="166721"/>
                  </a:cubicBezTo>
                  <a:lnTo>
                    <a:pt x="9768" y="103269"/>
                  </a:lnTo>
                  <a:cubicBezTo>
                    <a:pt x="3515" y="97018"/>
                    <a:pt x="2" y="88540"/>
                    <a:pt x="0" y="79699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  <a:moveTo>
                    <a:pt x="55563" y="44450"/>
                  </a:moveTo>
                  <a:lnTo>
                    <a:pt x="55452" y="44450"/>
                  </a:lnTo>
                  <a:cubicBezTo>
                    <a:pt x="51481" y="44470"/>
                    <a:pt x="47823" y="46606"/>
                    <a:pt x="45856" y="50055"/>
                  </a:cubicBezTo>
                  <a:cubicBezTo>
                    <a:pt x="43888" y="53503"/>
                    <a:pt x="43909" y="57739"/>
                    <a:pt x="45911" y="61167"/>
                  </a:cubicBezTo>
                  <a:cubicBezTo>
                    <a:pt x="47913" y="64595"/>
                    <a:pt x="51593" y="66695"/>
                    <a:pt x="55563" y="66675"/>
                  </a:cubicBezTo>
                  <a:cubicBezTo>
                    <a:pt x="61700" y="66675"/>
                    <a:pt x="66675" y="61700"/>
                    <a:pt x="66675" y="55563"/>
                  </a:cubicBezTo>
                  <a:cubicBezTo>
                    <a:pt x="66675" y="49425"/>
                    <a:pt x="61700" y="44450"/>
                    <a:pt x="55563" y="444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73704" y="3350130"/>
              <a:ext cx="96332" cy="168726"/>
            </a:xfrm>
            <a:custGeom>
              <a:avLst/>
              <a:gdLst/>
              <a:ahLst/>
              <a:cxnLst/>
              <a:rect l="l" t="t" r="r" b="b"/>
              <a:pathLst>
                <a:path w="96332" h="168726">
                  <a:moveTo>
                    <a:pt x="4327" y="4338"/>
                  </a:moveTo>
                  <a:cubicBezTo>
                    <a:pt x="8666" y="0"/>
                    <a:pt x="15701" y="0"/>
                    <a:pt x="20040" y="4338"/>
                  </a:cubicBezTo>
                  <a:lnTo>
                    <a:pt x="71080" y="55367"/>
                  </a:lnTo>
                  <a:cubicBezTo>
                    <a:pt x="96332" y="80623"/>
                    <a:pt x="96332" y="121567"/>
                    <a:pt x="71080" y="146823"/>
                  </a:cubicBezTo>
                  <a:lnTo>
                    <a:pt x="53389" y="164514"/>
                  </a:lnTo>
                  <a:cubicBezTo>
                    <a:pt x="49029" y="168726"/>
                    <a:pt x="42098" y="168665"/>
                    <a:pt x="37811" y="164379"/>
                  </a:cubicBezTo>
                  <a:cubicBezTo>
                    <a:pt x="33525" y="160092"/>
                    <a:pt x="33464" y="153161"/>
                    <a:pt x="37676" y="148801"/>
                  </a:cubicBezTo>
                  <a:lnTo>
                    <a:pt x="55367" y="131110"/>
                  </a:lnTo>
                  <a:cubicBezTo>
                    <a:pt x="71942" y="114533"/>
                    <a:pt x="71942" y="87657"/>
                    <a:pt x="55367" y="71080"/>
                  </a:cubicBezTo>
                  <a:lnTo>
                    <a:pt x="4338" y="20051"/>
                  </a:lnTo>
                  <a:cubicBezTo>
                    <a:pt x="0" y="15712"/>
                    <a:pt x="0" y="8678"/>
                    <a:pt x="4338" y="43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7" name="Rectangle 17"/>
          <p:cNvSpPr/>
          <p:nvPr/>
        </p:nvSpPr>
        <p:spPr>
          <a:xfrm>
            <a:off x="1809750" y="2990850"/>
            <a:ext cx="49530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085213" y="3143726"/>
            <a:ext cx="488658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货架好分：宠物类型和食品分类双筛选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88261" y="3522821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前台支持犬猫、零食类型筛选，帮助渠道做主题陈列。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1104900" y="4572000"/>
            <a:ext cx="495300" cy="4953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252224" y="4740479"/>
            <a:ext cx="200652" cy="168072"/>
            <a:chOff x="1252224" y="4740479"/>
            <a:chExt cx="200652" cy="168072"/>
          </a:xfrm>
        </p:grpSpPr>
        <p:sp>
          <p:nvSpPr>
            <p:cNvPr id="21" name="Freeform 21"/>
            <p:cNvSpPr/>
            <p:nvPr/>
          </p:nvSpPr>
          <p:spPr>
            <a:xfrm>
              <a:off x="1252224" y="4886326"/>
              <a:ext cx="200652" cy="22225"/>
            </a:xfrm>
            <a:custGeom>
              <a:avLst/>
              <a:gdLst/>
              <a:ahLst/>
              <a:cxnLst/>
              <a:rect l="l" t="t" r="r" b="b"/>
              <a:pathLst>
                <a:path w="200652" h="22225">
                  <a:moveTo>
                    <a:pt x="189226" y="0"/>
                  </a:moveTo>
                  <a:cubicBezTo>
                    <a:pt x="195106" y="7"/>
                    <a:pt x="199963" y="4592"/>
                    <a:pt x="200307" y="10461"/>
                  </a:cubicBezTo>
                  <a:cubicBezTo>
                    <a:pt x="200652" y="16331"/>
                    <a:pt x="196365" y="21453"/>
                    <a:pt x="190526" y="22147"/>
                  </a:cubicBezTo>
                  <a:lnTo>
                    <a:pt x="189226" y="22225"/>
                  </a:lnTo>
                  <a:lnTo>
                    <a:pt x="11426" y="22225"/>
                  </a:lnTo>
                  <a:cubicBezTo>
                    <a:pt x="5546" y="22219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6" y="78"/>
                  </a:cubicBezTo>
                  <a:lnTo>
                    <a:pt x="11426" y="0"/>
                  </a:lnTo>
                  <a:lnTo>
                    <a:pt x="1892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252538" y="4740479"/>
              <a:ext cx="200026" cy="123621"/>
            </a:xfrm>
            <a:custGeom>
              <a:avLst/>
              <a:gdLst/>
              <a:ahLst/>
              <a:cxnLst/>
              <a:rect l="l" t="t" r="r" b="b"/>
              <a:pathLst>
                <a:path w="200026" h="123621">
                  <a:moveTo>
                    <a:pt x="135795" y="5551"/>
                  </a:moveTo>
                  <a:cubicBezTo>
                    <a:pt x="139589" y="816"/>
                    <a:pt x="146480" y="0"/>
                    <a:pt x="151275" y="3717"/>
                  </a:cubicBezTo>
                  <a:lnTo>
                    <a:pt x="152319" y="4639"/>
                  </a:lnTo>
                  <a:lnTo>
                    <a:pt x="196770" y="49090"/>
                  </a:lnTo>
                  <a:cubicBezTo>
                    <a:pt x="198497" y="50818"/>
                    <a:pt x="199606" y="53068"/>
                    <a:pt x="199926" y="55490"/>
                  </a:cubicBezTo>
                  <a:lnTo>
                    <a:pt x="200026" y="56946"/>
                  </a:lnTo>
                  <a:lnTo>
                    <a:pt x="200026" y="112509"/>
                  </a:lnTo>
                  <a:cubicBezTo>
                    <a:pt x="200025" y="118143"/>
                    <a:pt x="195808" y="122884"/>
                    <a:pt x="190213" y="123544"/>
                  </a:cubicBezTo>
                  <a:lnTo>
                    <a:pt x="188913" y="123621"/>
                  </a:lnTo>
                  <a:lnTo>
                    <a:pt x="10868" y="123621"/>
                  </a:lnTo>
                  <a:lnTo>
                    <a:pt x="9646" y="123521"/>
                  </a:lnTo>
                  <a:lnTo>
                    <a:pt x="8423" y="123299"/>
                  </a:lnTo>
                  <a:lnTo>
                    <a:pt x="7234" y="122921"/>
                  </a:lnTo>
                  <a:lnTo>
                    <a:pt x="6067" y="122410"/>
                  </a:lnTo>
                  <a:lnTo>
                    <a:pt x="4956" y="121754"/>
                  </a:lnTo>
                  <a:lnTo>
                    <a:pt x="3912" y="120977"/>
                  </a:lnTo>
                  <a:lnTo>
                    <a:pt x="3245" y="120365"/>
                  </a:lnTo>
                  <a:lnTo>
                    <a:pt x="2445" y="119454"/>
                  </a:lnTo>
                  <a:lnTo>
                    <a:pt x="1734" y="118465"/>
                  </a:lnTo>
                  <a:lnTo>
                    <a:pt x="1133" y="117398"/>
                  </a:lnTo>
                  <a:lnTo>
                    <a:pt x="956" y="117009"/>
                  </a:lnTo>
                  <a:lnTo>
                    <a:pt x="511" y="115865"/>
                  </a:lnTo>
                  <a:lnTo>
                    <a:pt x="211" y="114687"/>
                  </a:lnTo>
                  <a:lnTo>
                    <a:pt x="44" y="113487"/>
                  </a:lnTo>
                  <a:lnTo>
                    <a:pt x="0" y="112264"/>
                  </a:lnTo>
                  <a:lnTo>
                    <a:pt x="100" y="111042"/>
                  </a:lnTo>
                  <a:lnTo>
                    <a:pt x="311" y="109875"/>
                  </a:lnTo>
                  <a:cubicBezTo>
                    <a:pt x="422" y="109431"/>
                    <a:pt x="556" y="109019"/>
                    <a:pt x="700" y="108631"/>
                  </a:cubicBezTo>
                  <a:lnTo>
                    <a:pt x="1211" y="107464"/>
                  </a:lnTo>
                  <a:lnTo>
                    <a:pt x="1867" y="106352"/>
                  </a:lnTo>
                  <a:lnTo>
                    <a:pt x="46317" y="39677"/>
                  </a:lnTo>
                  <a:cubicBezTo>
                    <a:pt x="49132" y="35440"/>
                    <a:pt x="54464" y="33654"/>
                    <a:pt x="59263" y="35343"/>
                  </a:cubicBezTo>
                  <a:lnTo>
                    <a:pt x="60530" y="35899"/>
                  </a:lnTo>
                  <a:lnTo>
                    <a:pt x="96946" y="54101"/>
                  </a:lnTo>
                  <a:lnTo>
                    <a:pt x="135784" y="55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4" name="Rectangle 24"/>
          <p:cNvSpPr/>
          <p:nvPr/>
        </p:nvSpPr>
        <p:spPr>
          <a:xfrm>
            <a:off x="1809750" y="4381500"/>
            <a:ext cx="49530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085213" y="4534376"/>
            <a:ext cx="488658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经营可看：价格、销量和订单进入统计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8261" y="4913471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新品上架和真实下单都会进入后台销量和营业额展示。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5785" y="6298406"/>
            <a:ext cx="30918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商品字段、前台筛选、后台统计逻辑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4736" y="424815"/>
            <a:ext cx="74968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四类零食覆盖门店最常见的购买场景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880" y="981075"/>
            <a:ext cx="67040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用有限 SKU 讲清“日常奖励、营养加餐、口腔护理、训练互动”四个入口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581150"/>
            <a:ext cx="257175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94" y="1828800"/>
            <a:ext cx="1833562" cy="146685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917622" y="3549648"/>
            <a:ext cx="260713" cy="257755"/>
          </a:xfrm>
          <a:custGeom>
            <a:avLst/>
            <a:gdLst/>
            <a:ahLst/>
            <a:cxnLst/>
            <a:rect l="l" t="t" r="r" b="b"/>
            <a:pathLst>
              <a:path w="260713" h="257755">
                <a:moveTo>
                  <a:pt x="168227" y="2"/>
                </a:moveTo>
                <a:cubicBezTo>
                  <a:pt x="191540" y="0"/>
                  <a:pt x="211862" y="15866"/>
                  <a:pt x="217516" y="38483"/>
                </a:cubicBezTo>
                <a:lnTo>
                  <a:pt x="217719" y="39398"/>
                </a:lnTo>
                <a:lnTo>
                  <a:pt x="218735" y="39639"/>
                </a:lnTo>
                <a:cubicBezTo>
                  <a:pt x="235715" y="43914"/>
                  <a:pt x="249296" y="56631"/>
                  <a:pt x="254676" y="73294"/>
                </a:cubicBezTo>
                <a:lnTo>
                  <a:pt x="255400" y="75745"/>
                </a:lnTo>
                <a:cubicBezTo>
                  <a:pt x="260713" y="95550"/>
                  <a:pt x="253598" y="116608"/>
                  <a:pt x="237361" y="129133"/>
                </a:cubicBezTo>
                <a:cubicBezTo>
                  <a:pt x="221124" y="141657"/>
                  <a:pt x="198950" y="143191"/>
                  <a:pt x="181143" y="133022"/>
                </a:cubicBezTo>
                <a:lnTo>
                  <a:pt x="180546" y="132653"/>
                </a:lnTo>
                <a:lnTo>
                  <a:pt x="135779" y="177421"/>
                </a:lnTo>
                <a:lnTo>
                  <a:pt x="136312" y="178310"/>
                </a:lnTo>
                <a:cubicBezTo>
                  <a:pt x="144444" y="192774"/>
                  <a:pt x="144999" y="210299"/>
                  <a:pt x="137798" y="225249"/>
                </a:cubicBezTo>
                <a:lnTo>
                  <a:pt x="136503" y="227751"/>
                </a:lnTo>
                <a:cubicBezTo>
                  <a:pt x="125575" y="247559"/>
                  <a:pt x="102865" y="257755"/>
                  <a:pt x="80801" y="252757"/>
                </a:cubicBezTo>
                <a:cubicBezTo>
                  <a:pt x="62257" y="248544"/>
                  <a:pt x="47633" y="234302"/>
                  <a:pt x="42929" y="215876"/>
                </a:cubicBezTo>
                <a:lnTo>
                  <a:pt x="42637" y="214670"/>
                </a:lnTo>
                <a:lnTo>
                  <a:pt x="40885" y="214251"/>
                </a:lnTo>
                <a:cubicBezTo>
                  <a:pt x="23541" y="209624"/>
                  <a:pt x="9926" y="196188"/>
                  <a:pt x="5071" y="178907"/>
                </a:cubicBezTo>
                <a:lnTo>
                  <a:pt x="4436" y="176379"/>
                </a:lnTo>
                <a:cubicBezTo>
                  <a:pt x="0" y="156786"/>
                  <a:pt x="7527" y="136420"/>
                  <a:pt x="23639" y="124421"/>
                </a:cubicBezTo>
                <a:cubicBezTo>
                  <a:pt x="39750" y="112421"/>
                  <a:pt x="61420" y="111044"/>
                  <a:pt x="78921" y="120906"/>
                </a:cubicBezTo>
                <a:lnTo>
                  <a:pt x="79785" y="121414"/>
                </a:lnTo>
                <a:lnTo>
                  <a:pt x="124539" y="76659"/>
                </a:lnTo>
                <a:lnTo>
                  <a:pt x="124082" y="75885"/>
                </a:lnTo>
                <a:cubicBezTo>
                  <a:pt x="116862" y="63126"/>
                  <a:pt x="115505" y="47871"/>
                  <a:pt x="120361" y="34038"/>
                </a:cubicBezTo>
                <a:lnTo>
                  <a:pt x="121364" y="31435"/>
                </a:lnTo>
                <a:cubicBezTo>
                  <a:pt x="129223" y="12451"/>
                  <a:pt x="147744" y="70"/>
                  <a:pt x="168291" y="66"/>
                </a:cubicBezTo>
                <a:lnTo>
                  <a:pt x="166525" y="117"/>
                </a:lnTo>
                <a:lnTo>
                  <a:pt x="166779" y="78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23213" y="3553301"/>
            <a:ext cx="87928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鸡肉条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3990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主打日常奖励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730" y="43148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高接受度，适合首推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5350" y="49149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68819" y="49882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门店常备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429000" y="1581150"/>
            <a:ext cx="257175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094" y="1828800"/>
            <a:ext cx="1833562" cy="1466850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>
            <a:off x="3764093" y="3606038"/>
            <a:ext cx="281576" cy="142390"/>
          </a:xfrm>
          <a:custGeom>
            <a:avLst/>
            <a:gdLst/>
            <a:ahLst/>
            <a:cxnLst/>
            <a:rect l="l" t="t" r="r" b="b"/>
            <a:pathLst>
              <a:path w="281576" h="142390">
                <a:moveTo>
                  <a:pt x="200529" y="0"/>
                </a:moveTo>
                <a:lnTo>
                  <a:pt x="202028" y="63"/>
                </a:lnTo>
                <a:cubicBezTo>
                  <a:pt x="203032" y="166"/>
                  <a:pt x="204022" y="387"/>
                  <a:pt x="204974" y="724"/>
                </a:cubicBezTo>
                <a:lnTo>
                  <a:pt x="205380" y="914"/>
                </a:lnTo>
                <a:lnTo>
                  <a:pt x="208847" y="2222"/>
                </a:lnTo>
                <a:cubicBezTo>
                  <a:pt x="233435" y="12014"/>
                  <a:pt x="255710" y="31051"/>
                  <a:pt x="275560" y="59068"/>
                </a:cubicBezTo>
                <a:lnTo>
                  <a:pt x="278672" y="63576"/>
                </a:lnTo>
                <a:cubicBezTo>
                  <a:pt x="281576" y="67873"/>
                  <a:pt x="281576" y="73503"/>
                  <a:pt x="278672" y="77800"/>
                </a:cubicBezTo>
                <a:cubicBezTo>
                  <a:pt x="257056" y="109791"/>
                  <a:pt x="232495" y="130835"/>
                  <a:pt x="205114" y="140627"/>
                </a:cubicBezTo>
                <a:cubicBezTo>
                  <a:pt x="200175" y="142390"/>
                  <a:pt x="194661" y="140937"/>
                  <a:pt x="191233" y="136969"/>
                </a:cubicBezTo>
                <a:cubicBezTo>
                  <a:pt x="178132" y="121841"/>
                  <a:pt x="169810" y="103168"/>
                  <a:pt x="167318" y="83312"/>
                </a:cubicBezTo>
                <a:lnTo>
                  <a:pt x="141157" y="83312"/>
                </a:lnTo>
                <a:lnTo>
                  <a:pt x="141157" y="121412"/>
                </a:lnTo>
                <a:cubicBezTo>
                  <a:pt x="141157" y="128426"/>
                  <a:pt x="135471" y="134112"/>
                  <a:pt x="128457" y="134112"/>
                </a:cubicBezTo>
                <a:cubicBezTo>
                  <a:pt x="121443" y="134112"/>
                  <a:pt x="115757" y="128426"/>
                  <a:pt x="115757" y="121412"/>
                </a:cubicBezTo>
                <a:lnTo>
                  <a:pt x="115757" y="83312"/>
                </a:lnTo>
                <a:lnTo>
                  <a:pt x="90357" y="83312"/>
                </a:lnTo>
                <a:lnTo>
                  <a:pt x="90357" y="96012"/>
                </a:lnTo>
                <a:cubicBezTo>
                  <a:pt x="90357" y="103026"/>
                  <a:pt x="84671" y="108712"/>
                  <a:pt x="77657" y="108712"/>
                </a:cubicBezTo>
                <a:cubicBezTo>
                  <a:pt x="70643" y="108712"/>
                  <a:pt x="64957" y="103026"/>
                  <a:pt x="64957" y="96012"/>
                </a:cubicBezTo>
                <a:lnTo>
                  <a:pt x="64957" y="83312"/>
                </a:lnTo>
                <a:lnTo>
                  <a:pt x="50149" y="83312"/>
                </a:lnTo>
                <a:lnTo>
                  <a:pt x="45894" y="87427"/>
                </a:lnTo>
                <a:cubicBezTo>
                  <a:pt x="38229" y="94997"/>
                  <a:pt x="30812" y="102816"/>
                  <a:pt x="23656" y="110871"/>
                </a:cubicBezTo>
                <a:cubicBezTo>
                  <a:pt x="18999" y="116117"/>
                  <a:pt x="10971" y="116595"/>
                  <a:pt x="5724" y="111938"/>
                </a:cubicBezTo>
                <a:cubicBezTo>
                  <a:pt x="478" y="107280"/>
                  <a:pt x="0" y="99252"/>
                  <a:pt x="4657" y="94005"/>
                </a:cubicBezTo>
                <a:cubicBezTo>
                  <a:pt x="9678" y="88358"/>
                  <a:pt x="14817" y="82821"/>
                  <a:pt x="20075" y="77394"/>
                </a:cubicBezTo>
                <a:lnTo>
                  <a:pt x="26704" y="70688"/>
                </a:lnTo>
                <a:lnTo>
                  <a:pt x="20062" y="63970"/>
                </a:lnTo>
                <a:cubicBezTo>
                  <a:pt x="17438" y="61254"/>
                  <a:pt x="14843" y="58511"/>
                  <a:pt x="12277" y="55740"/>
                </a:cubicBezTo>
                <a:lnTo>
                  <a:pt x="4657" y="47345"/>
                </a:lnTo>
                <a:cubicBezTo>
                  <a:pt x="0" y="42099"/>
                  <a:pt x="478" y="34070"/>
                  <a:pt x="5724" y="29413"/>
                </a:cubicBezTo>
                <a:cubicBezTo>
                  <a:pt x="10971" y="24756"/>
                  <a:pt x="18999" y="25233"/>
                  <a:pt x="23656" y="30480"/>
                </a:cubicBezTo>
                <a:cubicBezTo>
                  <a:pt x="32070" y="39953"/>
                  <a:pt x="40835" y="49107"/>
                  <a:pt x="49933" y="57925"/>
                </a:cubicBezTo>
                <a:lnTo>
                  <a:pt x="64957" y="57912"/>
                </a:lnTo>
                <a:lnTo>
                  <a:pt x="64957" y="45212"/>
                </a:lnTo>
                <a:cubicBezTo>
                  <a:pt x="64957" y="40675"/>
                  <a:pt x="67377" y="36482"/>
                  <a:pt x="71307" y="34213"/>
                </a:cubicBezTo>
                <a:cubicBezTo>
                  <a:pt x="75236" y="31945"/>
                  <a:pt x="80077" y="31945"/>
                  <a:pt x="84007" y="34213"/>
                </a:cubicBezTo>
                <a:cubicBezTo>
                  <a:pt x="87936" y="36482"/>
                  <a:pt x="90357" y="40675"/>
                  <a:pt x="90357" y="45212"/>
                </a:cubicBezTo>
                <a:lnTo>
                  <a:pt x="90357" y="57912"/>
                </a:lnTo>
                <a:lnTo>
                  <a:pt x="115757" y="57912"/>
                </a:lnTo>
                <a:lnTo>
                  <a:pt x="115757" y="19812"/>
                </a:lnTo>
                <a:cubicBezTo>
                  <a:pt x="115757" y="12798"/>
                  <a:pt x="121443" y="7112"/>
                  <a:pt x="128457" y="7112"/>
                </a:cubicBezTo>
                <a:cubicBezTo>
                  <a:pt x="135471" y="7112"/>
                  <a:pt x="141157" y="12798"/>
                  <a:pt x="141157" y="19812"/>
                </a:cubicBezTo>
                <a:lnTo>
                  <a:pt x="141157" y="57912"/>
                </a:lnTo>
                <a:lnTo>
                  <a:pt x="167344" y="57912"/>
                </a:lnTo>
                <a:cubicBezTo>
                  <a:pt x="169639" y="39571"/>
                  <a:pt x="176912" y="22209"/>
                  <a:pt x="188375" y="7709"/>
                </a:cubicBezTo>
                <a:lnTo>
                  <a:pt x="190864" y="4661"/>
                </a:lnTo>
                <a:lnTo>
                  <a:pt x="191817" y="3632"/>
                </a:lnTo>
                <a:lnTo>
                  <a:pt x="193150" y="2515"/>
                </a:lnTo>
                <a:lnTo>
                  <a:pt x="194014" y="1905"/>
                </a:lnTo>
                <a:lnTo>
                  <a:pt x="195246" y="1245"/>
                </a:lnTo>
                <a:lnTo>
                  <a:pt x="196122" y="864"/>
                </a:lnTo>
                <a:lnTo>
                  <a:pt x="197875" y="330"/>
                </a:lnTo>
                <a:lnTo>
                  <a:pt x="199030" y="114"/>
                </a:lnTo>
                <a:cubicBezTo>
                  <a:pt x="199530" y="55"/>
                  <a:pt x="200029" y="17"/>
                  <a:pt x="200529" y="0"/>
                </a:cubicBezTo>
                <a:moveTo>
                  <a:pt x="217356" y="45212"/>
                </a:moveTo>
                <a:cubicBezTo>
                  <a:pt x="210918" y="45213"/>
                  <a:pt x="205499" y="50032"/>
                  <a:pt x="204745" y="56426"/>
                </a:cubicBezTo>
                <a:lnTo>
                  <a:pt x="204656" y="58039"/>
                </a:lnTo>
                <a:cubicBezTo>
                  <a:pt x="204664" y="64758"/>
                  <a:pt x="209904" y="70309"/>
                  <a:pt x="216612" y="70703"/>
                </a:cubicBezTo>
                <a:cubicBezTo>
                  <a:pt x="223320" y="71097"/>
                  <a:pt x="229174" y="66197"/>
                  <a:pt x="229967" y="59525"/>
                </a:cubicBezTo>
                <a:lnTo>
                  <a:pt x="230056" y="57912"/>
                </a:lnTo>
                <a:cubicBezTo>
                  <a:pt x="230056" y="50898"/>
                  <a:pt x="224370" y="45212"/>
                  <a:pt x="217356" y="45212"/>
                </a:cubicBezTo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180713" y="3553301"/>
            <a:ext cx="87928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冻干粒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45230" y="3990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主打营养加餐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45230" y="43148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适合搭配主粮销售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752850" y="49149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926319" y="49882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加购搭配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581150"/>
            <a:ext cx="257175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594" y="1828800"/>
            <a:ext cx="1833562" cy="1466850"/>
          </a:xfrm>
          <a:prstGeom prst="rect">
            <a:avLst/>
          </a:prstGeom>
        </p:spPr>
      </p:pic>
      <p:sp>
        <p:nvSpPr>
          <p:cNvPr id="23" name="Freeform 23"/>
          <p:cNvSpPr/>
          <p:nvPr/>
        </p:nvSpPr>
        <p:spPr>
          <a:xfrm>
            <a:off x="6629999" y="3549650"/>
            <a:ext cx="265488" cy="254135"/>
          </a:xfrm>
          <a:custGeom>
            <a:avLst/>
            <a:gdLst/>
            <a:ahLst/>
            <a:cxnLst/>
            <a:rect l="l" t="t" r="r" b="b"/>
            <a:pathLst>
              <a:path w="265488" h="254135">
                <a:moveTo>
                  <a:pt x="132725" y="0"/>
                </a:moveTo>
                <a:lnTo>
                  <a:pt x="134223" y="89"/>
                </a:lnTo>
                <a:lnTo>
                  <a:pt x="134973" y="190"/>
                </a:lnTo>
                <a:lnTo>
                  <a:pt x="135747" y="356"/>
                </a:lnTo>
                <a:lnTo>
                  <a:pt x="137157" y="787"/>
                </a:lnTo>
                <a:cubicBezTo>
                  <a:pt x="138131" y="1146"/>
                  <a:pt x="139056" y="1624"/>
                  <a:pt x="139913" y="2210"/>
                </a:cubicBezTo>
                <a:lnTo>
                  <a:pt x="141234" y="3251"/>
                </a:lnTo>
                <a:lnTo>
                  <a:pt x="144472" y="6020"/>
                </a:lnTo>
                <a:cubicBezTo>
                  <a:pt x="170092" y="27299"/>
                  <a:pt x="202471" y="38726"/>
                  <a:pt x="235772" y="38240"/>
                </a:cubicBezTo>
                <a:lnTo>
                  <a:pt x="240116" y="38113"/>
                </a:lnTo>
                <a:cubicBezTo>
                  <a:pt x="245960" y="37846"/>
                  <a:pt x="251230" y="41606"/>
                  <a:pt x="252879" y="47218"/>
                </a:cubicBezTo>
                <a:cubicBezTo>
                  <a:pt x="265488" y="90110"/>
                  <a:pt x="260164" y="136281"/>
                  <a:pt x="238124" y="175177"/>
                </a:cubicBezTo>
                <a:cubicBezTo>
                  <a:pt x="216083" y="214073"/>
                  <a:pt x="179212" y="242367"/>
                  <a:pt x="135938" y="253593"/>
                </a:cubicBezTo>
                <a:cubicBezTo>
                  <a:pt x="133847" y="254135"/>
                  <a:pt x="131653" y="254135"/>
                  <a:pt x="129562" y="253593"/>
                </a:cubicBezTo>
                <a:cubicBezTo>
                  <a:pt x="86286" y="242370"/>
                  <a:pt x="49411" y="214076"/>
                  <a:pt x="27369" y="175180"/>
                </a:cubicBezTo>
                <a:cubicBezTo>
                  <a:pt x="5326" y="136284"/>
                  <a:pt x="0" y="90112"/>
                  <a:pt x="12608" y="47218"/>
                </a:cubicBezTo>
                <a:cubicBezTo>
                  <a:pt x="14258" y="41606"/>
                  <a:pt x="19528" y="37846"/>
                  <a:pt x="25372" y="38113"/>
                </a:cubicBezTo>
                <a:cubicBezTo>
                  <a:pt x="60138" y="39702"/>
                  <a:pt x="94245" y="28257"/>
                  <a:pt x="121015" y="6020"/>
                </a:cubicBezTo>
                <a:lnTo>
                  <a:pt x="124355" y="3162"/>
                </a:lnTo>
                <a:lnTo>
                  <a:pt x="125575" y="2210"/>
                </a:lnTo>
                <a:cubicBezTo>
                  <a:pt x="126431" y="1624"/>
                  <a:pt x="127357" y="1146"/>
                  <a:pt x="128331" y="787"/>
                </a:cubicBezTo>
                <a:lnTo>
                  <a:pt x="129753" y="356"/>
                </a:lnTo>
                <a:cubicBezTo>
                  <a:pt x="130251" y="235"/>
                  <a:pt x="130755" y="146"/>
                  <a:pt x="131264" y="89"/>
                </a:cubicBezTo>
                <a:lnTo>
                  <a:pt x="132725" y="0"/>
                </a:lnTo>
                <a:close/>
                <a:moveTo>
                  <a:pt x="179842" y="92621"/>
                </a:moveTo>
                <a:cubicBezTo>
                  <a:pt x="177460" y="90236"/>
                  <a:pt x="174227" y="88896"/>
                  <a:pt x="170856" y="88896"/>
                </a:cubicBezTo>
                <a:cubicBezTo>
                  <a:pt x="167486" y="88896"/>
                  <a:pt x="164253" y="90236"/>
                  <a:pt x="161871" y="92621"/>
                </a:cubicBezTo>
                <a:lnTo>
                  <a:pt x="120050" y="134429"/>
                </a:lnTo>
                <a:lnTo>
                  <a:pt x="103629" y="118021"/>
                </a:lnTo>
                <a:lnTo>
                  <a:pt x="102435" y="116967"/>
                </a:lnTo>
                <a:cubicBezTo>
                  <a:pt x="97138" y="112871"/>
                  <a:pt x="89570" y="113591"/>
                  <a:pt x="85141" y="118614"/>
                </a:cubicBezTo>
                <a:cubicBezTo>
                  <a:pt x="80712" y="123637"/>
                  <a:pt x="80944" y="131235"/>
                  <a:pt x="85671" y="135979"/>
                </a:cubicBezTo>
                <a:lnTo>
                  <a:pt x="111071" y="161378"/>
                </a:lnTo>
                <a:lnTo>
                  <a:pt x="112265" y="162433"/>
                </a:lnTo>
                <a:cubicBezTo>
                  <a:pt x="117321" y="166354"/>
                  <a:pt x="124504" y="165903"/>
                  <a:pt x="129029" y="161378"/>
                </a:cubicBezTo>
                <a:lnTo>
                  <a:pt x="179829" y="110579"/>
                </a:lnTo>
                <a:lnTo>
                  <a:pt x="180883" y="109385"/>
                </a:lnTo>
                <a:cubicBezTo>
                  <a:pt x="184805" y="104329"/>
                  <a:pt x="184353" y="97145"/>
                  <a:pt x="179829" y="92621"/>
                </a:cubicBezTo>
                <a:close/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038213" y="3553301"/>
            <a:ext cx="87928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洁齿棒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2730" y="3990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主打口腔护理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02730" y="431482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形成周期性复购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610350" y="49149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83819" y="49882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复购入口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144000" y="1581150"/>
            <a:ext cx="257175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pic>
        <p:nvPicPr>
          <p:cNvPr id="30" name="Imag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094" y="1828800"/>
            <a:ext cx="1833562" cy="146685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9493250" y="3586513"/>
            <a:ext cx="261269" cy="208683"/>
            <a:chOff x="9493250" y="3586513"/>
            <a:chExt cx="261269" cy="208683"/>
          </a:xfrm>
        </p:grpSpPr>
        <p:sp>
          <p:nvSpPr>
            <p:cNvPr id="31" name="Freeform 31"/>
            <p:cNvSpPr/>
            <p:nvPr/>
          </p:nvSpPr>
          <p:spPr>
            <a:xfrm>
              <a:off x="9493250" y="3587750"/>
              <a:ext cx="207446" cy="207446"/>
            </a:xfrm>
            <a:custGeom>
              <a:avLst/>
              <a:gdLst/>
              <a:ahLst/>
              <a:cxnLst/>
              <a:rect l="l" t="t" r="r" b="b"/>
              <a:pathLst>
                <a:path w="207446" h="207446">
                  <a:moveTo>
                    <a:pt x="91084" y="0"/>
                  </a:moveTo>
                  <a:cubicBezTo>
                    <a:pt x="101188" y="2"/>
                    <a:pt x="110877" y="4018"/>
                    <a:pt x="118021" y="11163"/>
                  </a:cubicBezTo>
                  <a:lnTo>
                    <a:pt x="190538" y="83680"/>
                  </a:lnTo>
                  <a:cubicBezTo>
                    <a:pt x="207446" y="100592"/>
                    <a:pt x="207446" y="128008"/>
                    <a:pt x="190538" y="144919"/>
                  </a:cubicBezTo>
                  <a:lnTo>
                    <a:pt x="144919" y="190538"/>
                  </a:lnTo>
                  <a:cubicBezTo>
                    <a:pt x="128008" y="207446"/>
                    <a:pt x="100592" y="207446"/>
                    <a:pt x="83680" y="190538"/>
                  </a:cubicBezTo>
                  <a:lnTo>
                    <a:pt x="11163" y="118021"/>
                  </a:lnTo>
                  <a:cubicBezTo>
                    <a:pt x="4018" y="110877"/>
                    <a:pt x="2" y="101188"/>
                    <a:pt x="0" y="9108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50800"/>
                  </a:moveTo>
                  <a:lnTo>
                    <a:pt x="63373" y="50800"/>
                  </a:lnTo>
                  <a:cubicBezTo>
                    <a:pt x="58836" y="50823"/>
                    <a:pt x="54655" y="53264"/>
                    <a:pt x="52406" y="57205"/>
                  </a:cubicBezTo>
                  <a:cubicBezTo>
                    <a:pt x="50157" y="61146"/>
                    <a:pt x="50181" y="65987"/>
                    <a:pt x="52470" y="69905"/>
                  </a:cubicBezTo>
                  <a:cubicBezTo>
                    <a:pt x="54758" y="73823"/>
                    <a:pt x="58963" y="76222"/>
                    <a:pt x="63500" y="76200"/>
                  </a:cubicBezTo>
                  <a:cubicBezTo>
                    <a:pt x="70514" y="76200"/>
                    <a:pt x="76200" y="70514"/>
                    <a:pt x="76200" y="63500"/>
                  </a:cubicBezTo>
                  <a:cubicBezTo>
                    <a:pt x="76200" y="56486"/>
                    <a:pt x="70514" y="50800"/>
                    <a:pt x="63500" y="50800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644426" y="3586513"/>
              <a:ext cx="110093" cy="192828"/>
            </a:xfrm>
            <a:custGeom>
              <a:avLst/>
              <a:gdLst/>
              <a:ahLst/>
              <a:cxnLst/>
              <a:rect l="l" t="t" r="r" b="b"/>
              <a:pathLst>
                <a:path w="110093" h="192828">
                  <a:moveTo>
                    <a:pt x="4945" y="4958"/>
                  </a:moveTo>
                  <a:cubicBezTo>
                    <a:pt x="9904" y="0"/>
                    <a:pt x="17944" y="0"/>
                    <a:pt x="22903" y="4958"/>
                  </a:cubicBezTo>
                  <a:lnTo>
                    <a:pt x="81234" y="63276"/>
                  </a:lnTo>
                  <a:cubicBezTo>
                    <a:pt x="110093" y="92140"/>
                    <a:pt x="110093" y="138933"/>
                    <a:pt x="81234" y="167797"/>
                  </a:cubicBezTo>
                  <a:lnTo>
                    <a:pt x="61015" y="188015"/>
                  </a:lnTo>
                  <a:cubicBezTo>
                    <a:pt x="56032" y="192828"/>
                    <a:pt x="48111" y="192759"/>
                    <a:pt x="43212" y="187860"/>
                  </a:cubicBezTo>
                  <a:cubicBezTo>
                    <a:pt x="38314" y="182962"/>
                    <a:pt x="38245" y="175041"/>
                    <a:pt x="43058" y="170057"/>
                  </a:cubicBezTo>
                  <a:lnTo>
                    <a:pt x="63276" y="149839"/>
                  </a:lnTo>
                  <a:cubicBezTo>
                    <a:pt x="82219" y="130894"/>
                    <a:pt x="82219" y="100179"/>
                    <a:pt x="63276" y="81234"/>
                  </a:cubicBezTo>
                  <a:lnTo>
                    <a:pt x="4958" y="22916"/>
                  </a:lnTo>
                  <a:cubicBezTo>
                    <a:pt x="0" y="17956"/>
                    <a:pt x="0" y="9917"/>
                    <a:pt x="4958" y="495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895713" y="3553301"/>
            <a:ext cx="87928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训练粒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60230" y="39909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主打训练互动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60230" y="431482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适合课程和社群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467850" y="49149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641319" y="49882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互动转化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5785" y="6298406"/>
            <a:ext cx="26332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本地商品图片与商品分类字段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624559" y="367665"/>
            <a:ext cx="89428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消费场景不是“买零食”，而是四种日常关系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395" y="923925"/>
            <a:ext cx="5871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渠道招商时，用场景帮助合作方判断谁来买、为什么买、如何复购</a:t>
            </a:r>
          </a:p>
        </p:txBody>
      </p:sp>
      <p:sp>
        <p:nvSpPr>
          <p:cNvPr id="5" name="Ellipse 5"/>
          <p:cNvSpPr/>
          <p:nvPr/>
        </p:nvSpPr>
        <p:spPr>
          <a:xfrm>
            <a:off x="5105400" y="2609850"/>
            <a:ext cx="1981200" cy="19812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314950" y="2819400"/>
            <a:ext cx="1562100" cy="1562100"/>
          </a:xfrm>
          <a:prstGeom prst="ellipse">
            <a:avLst/>
          </a:prstGeom>
          <a:noFill/>
          <a:ln w="19050">
            <a:solidFill>
              <a:srgbClr val="FFFFFF">
                <a:alpha val="45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5833186" y="3105144"/>
            <a:ext cx="525628" cy="457206"/>
            <a:chOff x="5833186" y="3105144"/>
            <a:chExt cx="525628" cy="457206"/>
          </a:xfrm>
        </p:grpSpPr>
        <p:sp>
          <p:nvSpPr>
            <p:cNvPr id="7" name="Freeform 7"/>
            <p:cNvSpPr/>
            <p:nvPr/>
          </p:nvSpPr>
          <p:spPr>
            <a:xfrm>
              <a:off x="5910504" y="3282950"/>
              <a:ext cx="370917" cy="279400"/>
            </a:xfrm>
            <a:custGeom>
              <a:avLst/>
              <a:gdLst/>
              <a:ahLst/>
              <a:cxnLst/>
              <a:rect l="l" t="t" r="r" b="b"/>
              <a:pathLst>
                <a:path w="370917" h="279400">
                  <a:moveTo>
                    <a:pt x="185496" y="0"/>
                  </a:moveTo>
                  <a:cubicBezTo>
                    <a:pt x="151968" y="0"/>
                    <a:pt x="135128" y="10693"/>
                    <a:pt x="111049" y="48870"/>
                  </a:cubicBezTo>
                  <a:lnTo>
                    <a:pt x="104851" y="58979"/>
                  </a:lnTo>
                  <a:lnTo>
                    <a:pt x="94818" y="76454"/>
                  </a:lnTo>
                  <a:cubicBezTo>
                    <a:pt x="93618" y="78601"/>
                    <a:pt x="92425" y="80752"/>
                    <a:pt x="91237" y="82906"/>
                  </a:cubicBezTo>
                  <a:cubicBezTo>
                    <a:pt x="85141" y="93929"/>
                    <a:pt x="76733" y="102032"/>
                    <a:pt x="62306" y="111913"/>
                  </a:cubicBezTo>
                  <a:lnTo>
                    <a:pt x="48336" y="121184"/>
                  </a:lnTo>
                  <a:cubicBezTo>
                    <a:pt x="24460" y="137109"/>
                    <a:pt x="11963" y="149581"/>
                    <a:pt x="4978" y="170841"/>
                  </a:cubicBezTo>
                  <a:cubicBezTo>
                    <a:pt x="1829" y="179426"/>
                    <a:pt x="0" y="192507"/>
                    <a:pt x="76" y="203353"/>
                  </a:cubicBezTo>
                  <a:cubicBezTo>
                    <a:pt x="76" y="246203"/>
                    <a:pt x="30505" y="279400"/>
                    <a:pt x="71196" y="279400"/>
                  </a:cubicBezTo>
                  <a:lnTo>
                    <a:pt x="77343" y="279248"/>
                  </a:lnTo>
                  <a:cubicBezTo>
                    <a:pt x="80366" y="279096"/>
                    <a:pt x="83287" y="278816"/>
                    <a:pt x="86335" y="278384"/>
                  </a:cubicBezTo>
                  <a:lnTo>
                    <a:pt x="92634" y="277292"/>
                  </a:lnTo>
                  <a:lnTo>
                    <a:pt x="95987" y="276581"/>
                  </a:lnTo>
                  <a:lnTo>
                    <a:pt x="103378" y="274727"/>
                  </a:lnTo>
                  <a:lnTo>
                    <a:pt x="107493" y="273584"/>
                  </a:lnTo>
                  <a:lnTo>
                    <a:pt x="121971" y="269266"/>
                  </a:lnTo>
                  <a:lnTo>
                    <a:pt x="141351" y="263094"/>
                  </a:lnTo>
                  <a:lnTo>
                    <a:pt x="152908" y="259639"/>
                  </a:lnTo>
                  <a:cubicBezTo>
                    <a:pt x="166370" y="255829"/>
                    <a:pt x="176784" y="254000"/>
                    <a:pt x="185496" y="254000"/>
                  </a:cubicBezTo>
                  <a:cubicBezTo>
                    <a:pt x="194234" y="254000"/>
                    <a:pt x="204623" y="255855"/>
                    <a:pt x="218085" y="259639"/>
                  </a:cubicBezTo>
                  <a:lnTo>
                    <a:pt x="229642" y="263094"/>
                  </a:lnTo>
                  <a:lnTo>
                    <a:pt x="249047" y="269240"/>
                  </a:lnTo>
                  <a:lnTo>
                    <a:pt x="263500" y="273584"/>
                  </a:lnTo>
                  <a:lnTo>
                    <a:pt x="271425" y="275717"/>
                  </a:lnTo>
                  <a:cubicBezTo>
                    <a:pt x="273889" y="276327"/>
                    <a:pt x="276175" y="276860"/>
                    <a:pt x="278359" y="277292"/>
                  </a:cubicBezTo>
                  <a:lnTo>
                    <a:pt x="284658" y="278384"/>
                  </a:lnTo>
                  <a:cubicBezTo>
                    <a:pt x="287706" y="278816"/>
                    <a:pt x="290627" y="279096"/>
                    <a:pt x="293650" y="279248"/>
                  </a:cubicBezTo>
                  <a:lnTo>
                    <a:pt x="299797" y="279400"/>
                  </a:lnTo>
                  <a:cubicBezTo>
                    <a:pt x="340487" y="279400"/>
                    <a:pt x="370917" y="246203"/>
                    <a:pt x="370917" y="203200"/>
                  </a:cubicBezTo>
                  <a:cubicBezTo>
                    <a:pt x="370917" y="192354"/>
                    <a:pt x="369062" y="179350"/>
                    <a:pt x="365659" y="170028"/>
                  </a:cubicBezTo>
                  <a:cubicBezTo>
                    <a:pt x="359664" y="151638"/>
                    <a:pt x="348463" y="138964"/>
                    <a:pt x="328067" y="123546"/>
                  </a:cubicBezTo>
                  <a:lnTo>
                    <a:pt x="321539" y="118720"/>
                  </a:lnTo>
                  <a:lnTo>
                    <a:pt x="308128" y="109068"/>
                  </a:lnTo>
                  <a:cubicBezTo>
                    <a:pt x="291821" y="97130"/>
                    <a:pt x="282652" y="88087"/>
                    <a:pt x="276302" y="76606"/>
                  </a:cubicBezTo>
                  <a:lnTo>
                    <a:pt x="269444" y="64287"/>
                  </a:lnTo>
                  <a:lnTo>
                    <a:pt x="263043" y="53315"/>
                  </a:lnTo>
                  <a:cubicBezTo>
                    <a:pt x="237363" y="10236"/>
                    <a:pt x="221945" y="0"/>
                    <a:pt x="185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201461" y="3206748"/>
              <a:ext cx="157353" cy="177802"/>
            </a:xfrm>
            <a:custGeom>
              <a:avLst/>
              <a:gdLst/>
              <a:ahLst/>
              <a:cxnLst/>
              <a:rect l="l" t="t" r="r" b="b"/>
              <a:pathLst>
                <a:path w="157353" h="177802">
                  <a:moveTo>
                    <a:pt x="92151" y="2"/>
                  </a:moveTo>
                  <a:lnTo>
                    <a:pt x="91389" y="2"/>
                  </a:lnTo>
                  <a:cubicBezTo>
                    <a:pt x="60427" y="510"/>
                    <a:pt x="31699" y="27078"/>
                    <a:pt x="17526" y="63604"/>
                  </a:cubicBezTo>
                  <a:cubicBezTo>
                    <a:pt x="0" y="108689"/>
                    <a:pt x="8687" y="158092"/>
                    <a:pt x="44831" y="173662"/>
                  </a:cubicBezTo>
                  <a:cubicBezTo>
                    <a:pt x="51333" y="176431"/>
                    <a:pt x="58217" y="177802"/>
                    <a:pt x="65176" y="177802"/>
                  </a:cubicBezTo>
                  <a:cubicBezTo>
                    <a:pt x="96444" y="177802"/>
                    <a:pt x="125629" y="151056"/>
                    <a:pt x="139929" y="114200"/>
                  </a:cubicBezTo>
                  <a:cubicBezTo>
                    <a:pt x="157353" y="69141"/>
                    <a:pt x="148565" y="19712"/>
                    <a:pt x="112598" y="4168"/>
                  </a:cubicBezTo>
                  <a:cubicBezTo>
                    <a:pt x="106141" y="1417"/>
                    <a:pt x="99195" y="0"/>
                    <a:pt x="9217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50331" y="3105150"/>
              <a:ext cx="151613" cy="177800"/>
            </a:xfrm>
            <a:custGeom>
              <a:avLst/>
              <a:gdLst/>
              <a:ahLst/>
              <a:cxnLst/>
              <a:rect l="l" t="t" r="r" b="b"/>
              <a:pathLst>
                <a:path w="151613" h="177800">
                  <a:moveTo>
                    <a:pt x="70104" y="0"/>
                  </a:moveTo>
                  <a:cubicBezTo>
                    <a:pt x="67259" y="0"/>
                    <a:pt x="65405" y="51"/>
                    <a:pt x="63246" y="381"/>
                  </a:cubicBezTo>
                  <a:lnTo>
                    <a:pt x="60884" y="787"/>
                  </a:lnTo>
                  <a:cubicBezTo>
                    <a:pt x="21971" y="6020"/>
                    <a:pt x="0" y="51308"/>
                    <a:pt x="7341" y="98705"/>
                  </a:cubicBezTo>
                  <a:cubicBezTo>
                    <a:pt x="14249" y="142520"/>
                    <a:pt x="44475" y="177800"/>
                    <a:pt x="81509" y="177800"/>
                  </a:cubicBezTo>
                  <a:lnTo>
                    <a:pt x="86259" y="177673"/>
                  </a:lnTo>
                  <a:cubicBezTo>
                    <a:pt x="86972" y="177612"/>
                    <a:pt x="87684" y="177528"/>
                    <a:pt x="88392" y="177419"/>
                  </a:cubicBezTo>
                  <a:lnTo>
                    <a:pt x="90729" y="177013"/>
                  </a:lnTo>
                  <a:cubicBezTo>
                    <a:pt x="129667" y="171780"/>
                    <a:pt x="151613" y="126492"/>
                    <a:pt x="144272" y="79096"/>
                  </a:cubicBezTo>
                  <a:cubicBezTo>
                    <a:pt x="137414" y="35230"/>
                    <a:pt x="107188" y="0"/>
                    <a:pt x="70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090057" y="3105144"/>
              <a:ext cx="151587" cy="177806"/>
            </a:xfrm>
            <a:custGeom>
              <a:avLst/>
              <a:gdLst/>
              <a:ahLst/>
              <a:cxnLst/>
              <a:rect l="l" t="t" r="r" b="b"/>
              <a:pathLst>
                <a:path w="151587" h="177806">
                  <a:moveTo>
                    <a:pt x="81433" y="6"/>
                  </a:moveTo>
                  <a:cubicBezTo>
                    <a:pt x="44374" y="6"/>
                    <a:pt x="14199" y="35261"/>
                    <a:pt x="7366" y="79076"/>
                  </a:cubicBezTo>
                  <a:cubicBezTo>
                    <a:pt x="0" y="126498"/>
                    <a:pt x="21946" y="171786"/>
                    <a:pt x="62586" y="177298"/>
                  </a:cubicBezTo>
                  <a:cubicBezTo>
                    <a:pt x="65202" y="177628"/>
                    <a:pt x="67666" y="177806"/>
                    <a:pt x="70104" y="177806"/>
                  </a:cubicBezTo>
                  <a:cubicBezTo>
                    <a:pt x="105410" y="177806"/>
                    <a:pt x="134696" y="145675"/>
                    <a:pt x="143180" y="104578"/>
                  </a:cubicBezTo>
                  <a:lnTo>
                    <a:pt x="144221" y="98736"/>
                  </a:lnTo>
                  <a:cubicBezTo>
                    <a:pt x="151587" y="51314"/>
                    <a:pt x="129642" y="6026"/>
                    <a:pt x="89002" y="514"/>
                  </a:cubicBezTo>
                  <a:cubicBezTo>
                    <a:pt x="86493" y="170"/>
                    <a:pt x="83964" y="0"/>
                    <a:pt x="8143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833186" y="3206750"/>
              <a:ext cx="157328" cy="177800"/>
            </a:xfrm>
            <a:custGeom>
              <a:avLst/>
              <a:gdLst/>
              <a:ahLst/>
              <a:cxnLst/>
              <a:rect l="l" t="t" r="r" b="b"/>
              <a:pathLst>
                <a:path w="157328" h="177800">
                  <a:moveTo>
                    <a:pt x="65126" y="0"/>
                  </a:moveTo>
                  <a:cubicBezTo>
                    <a:pt x="58166" y="0"/>
                    <a:pt x="51308" y="1372"/>
                    <a:pt x="44882" y="4089"/>
                  </a:cubicBezTo>
                  <a:cubicBezTo>
                    <a:pt x="8661" y="19710"/>
                    <a:pt x="0" y="69164"/>
                    <a:pt x="17501" y="114199"/>
                  </a:cubicBezTo>
                  <a:cubicBezTo>
                    <a:pt x="31801" y="151054"/>
                    <a:pt x="60935" y="177800"/>
                    <a:pt x="92202" y="177800"/>
                  </a:cubicBezTo>
                  <a:cubicBezTo>
                    <a:pt x="99162" y="177800"/>
                    <a:pt x="106020" y="176429"/>
                    <a:pt x="112446" y="173711"/>
                  </a:cubicBezTo>
                  <a:cubicBezTo>
                    <a:pt x="148666" y="158090"/>
                    <a:pt x="157328" y="108636"/>
                    <a:pt x="139827" y="63602"/>
                  </a:cubicBezTo>
                  <a:cubicBezTo>
                    <a:pt x="125527" y="26746"/>
                    <a:pt x="96393" y="0"/>
                    <a:pt x="65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470074" y="3708559"/>
            <a:ext cx="1251852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宠物家庭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3931" y="41024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复购关系入口</a:t>
            </a:r>
          </a:p>
        </p:txBody>
      </p:sp>
      <p:sp>
        <p:nvSpPr>
          <p:cNvPr id="15" name="Line 15"/>
          <p:cNvSpPr/>
          <p:nvPr/>
        </p:nvSpPr>
        <p:spPr>
          <a:xfrm>
            <a:off x="3048000" y="1885950"/>
            <a:ext cx="2343150" cy="1009650"/>
          </a:xfrm>
          <a:custGeom>
            <a:avLst/>
            <a:gdLst/>
            <a:ahLst/>
            <a:cxnLst/>
            <a:rect l="l" t="t" r="r" b="b"/>
            <a:pathLst>
              <a:path w="2343150" h="1009650">
                <a:moveTo>
                  <a:pt x="2343150" y="1009650"/>
                </a:move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8EB69B"/>
            </a:solidFill>
          </a:ln>
        </p:spPr>
      </p:sp>
      <p:sp>
        <p:nvSpPr>
          <p:cNvPr id="16" name="Line 16"/>
          <p:cNvSpPr/>
          <p:nvPr/>
        </p:nvSpPr>
        <p:spPr>
          <a:xfrm>
            <a:off x="6800850" y="1885950"/>
            <a:ext cx="2343150" cy="1009650"/>
          </a:xfrm>
          <a:custGeom>
            <a:avLst/>
            <a:gdLst/>
            <a:ahLst/>
            <a:cxnLst/>
            <a:rect l="l" t="t" r="r" b="b"/>
            <a:pathLst>
              <a:path w="2343150" h="1009650">
                <a:moveTo>
                  <a:pt x="0" y="1009650"/>
                </a:moveTo>
                <a:lnTo>
                  <a:pt x="2343150" y="0"/>
                </a:lnTo>
              </a:path>
            </a:pathLst>
          </a:custGeom>
          <a:noFill/>
          <a:ln w="28575" cap="rnd">
            <a:solidFill>
              <a:srgbClr val="8EB69B"/>
            </a:solidFill>
          </a:ln>
        </p:spPr>
      </p:sp>
      <p:sp>
        <p:nvSpPr>
          <p:cNvPr id="17" name="Line 17"/>
          <p:cNvSpPr/>
          <p:nvPr/>
        </p:nvSpPr>
        <p:spPr>
          <a:xfrm>
            <a:off x="3048000" y="4305300"/>
            <a:ext cx="2343150" cy="1009650"/>
          </a:xfrm>
          <a:custGeom>
            <a:avLst/>
            <a:gdLst/>
            <a:ahLst/>
            <a:cxnLst/>
            <a:rect l="l" t="t" r="r" b="b"/>
            <a:pathLst>
              <a:path w="2343150" h="1009650">
                <a:moveTo>
                  <a:pt x="2343150" y="0"/>
                </a:moveTo>
                <a:lnTo>
                  <a:pt x="0" y="1009650"/>
                </a:lnTo>
              </a:path>
            </a:pathLst>
          </a:custGeom>
          <a:noFill/>
          <a:ln w="28575" cap="rnd">
            <a:solidFill>
              <a:srgbClr val="8EB69B"/>
            </a:solidFill>
          </a:ln>
        </p:spPr>
      </p:sp>
      <p:sp>
        <p:nvSpPr>
          <p:cNvPr id="18" name="Line 18"/>
          <p:cNvSpPr/>
          <p:nvPr/>
        </p:nvSpPr>
        <p:spPr>
          <a:xfrm>
            <a:off x="6800850" y="4305300"/>
            <a:ext cx="2343150" cy="1009650"/>
          </a:xfrm>
          <a:custGeom>
            <a:avLst/>
            <a:gdLst/>
            <a:ahLst/>
            <a:cxnLst/>
            <a:rect l="l" t="t" r="r" b="b"/>
            <a:pathLst>
              <a:path w="2343150" h="1009650">
                <a:moveTo>
                  <a:pt x="0" y="0"/>
                </a:moveTo>
                <a:lnTo>
                  <a:pt x="2343150" y="1009650"/>
                </a:lnTo>
              </a:path>
            </a:pathLst>
          </a:custGeom>
          <a:noFill/>
          <a:ln w="28575" cap="rnd">
            <a:solidFill>
              <a:srgbClr val="8EB69B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143000" y="1466850"/>
            <a:ext cx="3238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1471465" y="1817685"/>
            <a:ext cx="277009" cy="273866"/>
          </a:xfrm>
          <a:custGeom>
            <a:avLst/>
            <a:gdLst/>
            <a:ahLst/>
            <a:cxnLst/>
            <a:rect l="l" t="t" r="r" b="b"/>
            <a:pathLst>
              <a:path w="277009" h="273866">
                <a:moveTo>
                  <a:pt x="178742" y="2"/>
                </a:moveTo>
                <a:cubicBezTo>
                  <a:pt x="203512" y="0"/>
                  <a:pt x="225105" y="16858"/>
                  <a:pt x="231112" y="40889"/>
                </a:cubicBezTo>
                <a:lnTo>
                  <a:pt x="231327" y="41860"/>
                </a:lnTo>
                <a:lnTo>
                  <a:pt x="232407" y="42117"/>
                </a:lnTo>
                <a:cubicBezTo>
                  <a:pt x="250448" y="46658"/>
                  <a:pt x="264878" y="60171"/>
                  <a:pt x="270594" y="77875"/>
                </a:cubicBezTo>
                <a:lnTo>
                  <a:pt x="271364" y="80479"/>
                </a:lnTo>
                <a:cubicBezTo>
                  <a:pt x="277009" y="101523"/>
                  <a:pt x="269450" y="123897"/>
                  <a:pt x="252198" y="137204"/>
                </a:cubicBezTo>
                <a:cubicBezTo>
                  <a:pt x="234946" y="150511"/>
                  <a:pt x="211385" y="152141"/>
                  <a:pt x="192465" y="141336"/>
                </a:cubicBezTo>
                <a:lnTo>
                  <a:pt x="191831" y="140945"/>
                </a:lnTo>
                <a:lnTo>
                  <a:pt x="144266" y="188511"/>
                </a:lnTo>
                <a:lnTo>
                  <a:pt x="144832" y="189455"/>
                </a:lnTo>
                <a:cubicBezTo>
                  <a:pt x="153473" y="204824"/>
                  <a:pt x="154062" y="223444"/>
                  <a:pt x="146411" y="239328"/>
                </a:cubicBezTo>
                <a:lnTo>
                  <a:pt x="145035" y="241986"/>
                </a:lnTo>
                <a:cubicBezTo>
                  <a:pt x="133424" y="263033"/>
                  <a:pt x="109294" y="273866"/>
                  <a:pt x="85851" y="268556"/>
                </a:cubicBezTo>
                <a:cubicBezTo>
                  <a:pt x="66148" y="264079"/>
                  <a:pt x="50610" y="248947"/>
                  <a:pt x="45613" y="229370"/>
                </a:cubicBezTo>
                <a:lnTo>
                  <a:pt x="45302" y="228088"/>
                </a:lnTo>
                <a:lnTo>
                  <a:pt x="43440" y="227643"/>
                </a:lnTo>
                <a:cubicBezTo>
                  <a:pt x="25012" y="222727"/>
                  <a:pt x="10546" y="208451"/>
                  <a:pt x="5388" y="190089"/>
                </a:cubicBezTo>
                <a:lnTo>
                  <a:pt x="4713" y="187404"/>
                </a:lnTo>
                <a:cubicBezTo>
                  <a:pt x="0" y="166586"/>
                  <a:pt x="7998" y="144947"/>
                  <a:pt x="25116" y="132197"/>
                </a:cubicBezTo>
                <a:cubicBezTo>
                  <a:pt x="42235" y="119448"/>
                  <a:pt x="65259" y="117985"/>
                  <a:pt x="83854" y="128463"/>
                </a:cubicBezTo>
                <a:lnTo>
                  <a:pt x="84772" y="129003"/>
                </a:lnTo>
                <a:lnTo>
                  <a:pt x="132324" y="81451"/>
                </a:lnTo>
                <a:lnTo>
                  <a:pt x="131838" y="80628"/>
                </a:lnTo>
                <a:cubicBezTo>
                  <a:pt x="124166" y="67072"/>
                  <a:pt x="122725" y="50863"/>
                  <a:pt x="127884" y="36166"/>
                </a:cubicBezTo>
                <a:lnTo>
                  <a:pt x="128950" y="33400"/>
                </a:lnTo>
                <a:cubicBezTo>
                  <a:pt x="137300" y="13229"/>
                  <a:pt x="156979" y="74"/>
                  <a:pt x="178810" y="70"/>
                </a:cubicBezTo>
                <a:lnTo>
                  <a:pt x="176934" y="124"/>
                </a:lnTo>
                <a:lnTo>
                  <a:pt x="177204" y="83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933194" y="17706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日常奖励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5861" y="2189321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高频小额，适合门店常备陈列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810500" y="1466850"/>
            <a:ext cx="3238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8127246" y="1877600"/>
            <a:ext cx="299176" cy="151290"/>
          </a:xfrm>
          <a:custGeom>
            <a:avLst/>
            <a:gdLst/>
            <a:ahLst/>
            <a:cxnLst/>
            <a:rect l="l" t="t" r="r" b="b"/>
            <a:pathLst>
              <a:path w="299176" h="151290">
                <a:moveTo>
                  <a:pt x="213063" y="0"/>
                </a:moveTo>
                <a:lnTo>
                  <a:pt x="214655" y="67"/>
                </a:lnTo>
                <a:cubicBezTo>
                  <a:pt x="215723" y="176"/>
                  <a:pt x="216774" y="412"/>
                  <a:pt x="217786" y="769"/>
                </a:cubicBezTo>
                <a:lnTo>
                  <a:pt x="218218" y="972"/>
                </a:lnTo>
                <a:lnTo>
                  <a:pt x="221901" y="2361"/>
                </a:lnTo>
                <a:cubicBezTo>
                  <a:pt x="248025" y="12765"/>
                  <a:pt x="271693" y="32992"/>
                  <a:pt x="292784" y="62760"/>
                </a:cubicBezTo>
                <a:lnTo>
                  <a:pt x="296090" y="67550"/>
                </a:lnTo>
                <a:cubicBezTo>
                  <a:pt x="299176" y="72115"/>
                  <a:pt x="299176" y="78098"/>
                  <a:pt x="296090" y="82663"/>
                </a:cubicBezTo>
                <a:cubicBezTo>
                  <a:pt x="273124" y="116654"/>
                  <a:pt x="247027" y="139013"/>
                  <a:pt x="217934" y="149417"/>
                </a:cubicBezTo>
                <a:cubicBezTo>
                  <a:pt x="212687" y="151290"/>
                  <a:pt x="206828" y="149746"/>
                  <a:pt x="203186" y="145530"/>
                </a:cubicBezTo>
                <a:cubicBezTo>
                  <a:pt x="189266" y="129456"/>
                  <a:pt x="180424" y="109617"/>
                  <a:pt x="177777" y="88519"/>
                </a:cubicBezTo>
                <a:lnTo>
                  <a:pt x="149980" y="88519"/>
                </a:lnTo>
                <a:lnTo>
                  <a:pt x="149980" y="129001"/>
                </a:lnTo>
                <a:cubicBezTo>
                  <a:pt x="149980" y="136453"/>
                  <a:pt x="143938" y="142494"/>
                  <a:pt x="136486" y="142494"/>
                </a:cubicBezTo>
                <a:cubicBezTo>
                  <a:pt x="129033" y="142494"/>
                  <a:pt x="122992" y="136453"/>
                  <a:pt x="122992" y="129001"/>
                </a:cubicBezTo>
                <a:lnTo>
                  <a:pt x="122992" y="88519"/>
                </a:lnTo>
                <a:lnTo>
                  <a:pt x="96004" y="88519"/>
                </a:lnTo>
                <a:lnTo>
                  <a:pt x="96004" y="102013"/>
                </a:lnTo>
                <a:cubicBezTo>
                  <a:pt x="96004" y="109465"/>
                  <a:pt x="89963" y="115507"/>
                  <a:pt x="82511" y="115507"/>
                </a:cubicBezTo>
                <a:cubicBezTo>
                  <a:pt x="75058" y="115507"/>
                  <a:pt x="69017" y="109465"/>
                  <a:pt x="69017" y="102013"/>
                </a:cubicBezTo>
                <a:lnTo>
                  <a:pt x="69017" y="88519"/>
                </a:lnTo>
                <a:lnTo>
                  <a:pt x="53283" y="88519"/>
                </a:lnTo>
                <a:lnTo>
                  <a:pt x="48763" y="92891"/>
                </a:lnTo>
                <a:cubicBezTo>
                  <a:pt x="40618" y="100935"/>
                  <a:pt x="32738" y="109243"/>
                  <a:pt x="25135" y="117801"/>
                </a:cubicBezTo>
                <a:cubicBezTo>
                  <a:pt x="20187" y="123375"/>
                  <a:pt x="11656" y="123883"/>
                  <a:pt x="6082" y="118934"/>
                </a:cubicBezTo>
                <a:cubicBezTo>
                  <a:pt x="507" y="113986"/>
                  <a:pt x="0" y="105455"/>
                  <a:pt x="4948" y="99881"/>
                </a:cubicBezTo>
                <a:cubicBezTo>
                  <a:pt x="10283" y="93881"/>
                  <a:pt x="15743" y="87997"/>
                  <a:pt x="21330" y="82231"/>
                </a:cubicBezTo>
                <a:lnTo>
                  <a:pt x="28374" y="75106"/>
                </a:lnTo>
                <a:lnTo>
                  <a:pt x="21316" y="67968"/>
                </a:lnTo>
                <a:cubicBezTo>
                  <a:pt x="18528" y="65083"/>
                  <a:pt x="15771" y="62168"/>
                  <a:pt x="13045" y="59224"/>
                </a:cubicBezTo>
                <a:lnTo>
                  <a:pt x="4948" y="50305"/>
                </a:lnTo>
                <a:cubicBezTo>
                  <a:pt x="0" y="44730"/>
                  <a:pt x="507" y="36200"/>
                  <a:pt x="6082" y="31252"/>
                </a:cubicBezTo>
                <a:cubicBezTo>
                  <a:pt x="11656" y="26303"/>
                  <a:pt x="20187" y="26811"/>
                  <a:pt x="25135" y="32385"/>
                </a:cubicBezTo>
                <a:cubicBezTo>
                  <a:pt x="34074" y="42450"/>
                  <a:pt x="43387" y="52177"/>
                  <a:pt x="53054" y="61545"/>
                </a:cubicBezTo>
                <a:lnTo>
                  <a:pt x="69017" y="61532"/>
                </a:lnTo>
                <a:lnTo>
                  <a:pt x="69017" y="48038"/>
                </a:lnTo>
                <a:cubicBezTo>
                  <a:pt x="69017" y="43217"/>
                  <a:pt x="71589" y="38762"/>
                  <a:pt x="75764" y="36352"/>
                </a:cubicBezTo>
                <a:cubicBezTo>
                  <a:pt x="79939" y="33941"/>
                  <a:pt x="85083" y="33941"/>
                  <a:pt x="89258" y="36352"/>
                </a:cubicBezTo>
                <a:cubicBezTo>
                  <a:pt x="93433" y="38762"/>
                  <a:pt x="96004" y="43217"/>
                  <a:pt x="96004" y="48038"/>
                </a:cubicBezTo>
                <a:lnTo>
                  <a:pt x="96004" y="61532"/>
                </a:lnTo>
                <a:lnTo>
                  <a:pt x="122992" y="61532"/>
                </a:lnTo>
                <a:lnTo>
                  <a:pt x="122992" y="21050"/>
                </a:lnTo>
                <a:cubicBezTo>
                  <a:pt x="122992" y="13598"/>
                  <a:pt x="129033" y="7557"/>
                  <a:pt x="136486" y="7557"/>
                </a:cubicBezTo>
                <a:cubicBezTo>
                  <a:pt x="143938" y="7557"/>
                  <a:pt x="149980" y="13598"/>
                  <a:pt x="149980" y="21050"/>
                </a:cubicBezTo>
                <a:lnTo>
                  <a:pt x="149980" y="61532"/>
                </a:lnTo>
                <a:lnTo>
                  <a:pt x="177804" y="61532"/>
                </a:lnTo>
                <a:cubicBezTo>
                  <a:pt x="180242" y="42045"/>
                  <a:pt x="187970" y="23597"/>
                  <a:pt x="200149" y="8191"/>
                </a:cubicBezTo>
                <a:lnTo>
                  <a:pt x="202794" y="4952"/>
                </a:lnTo>
                <a:lnTo>
                  <a:pt x="203806" y="3859"/>
                </a:lnTo>
                <a:lnTo>
                  <a:pt x="205223" y="2672"/>
                </a:lnTo>
                <a:lnTo>
                  <a:pt x="206141" y="2024"/>
                </a:lnTo>
                <a:lnTo>
                  <a:pt x="207450" y="1322"/>
                </a:lnTo>
                <a:lnTo>
                  <a:pt x="208381" y="918"/>
                </a:lnTo>
                <a:lnTo>
                  <a:pt x="210243" y="351"/>
                </a:lnTo>
                <a:lnTo>
                  <a:pt x="211471" y="121"/>
                </a:lnTo>
                <a:cubicBezTo>
                  <a:pt x="212001" y="58"/>
                  <a:pt x="212532" y="18"/>
                  <a:pt x="213063" y="0"/>
                </a:cubicBezTo>
                <a:moveTo>
                  <a:pt x="230942" y="48038"/>
                </a:moveTo>
                <a:cubicBezTo>
                  <a:pt x="224101" y="48039"/>
                  <a:pt x="218343" y="53159"/>
                  <a:pt x="217543" y="59953"/>
                </a:cubicBezTo>
                <a:lnTo>
                  <a:pt x="217448" y="61667"/>
                </a:lnTo>
                <a:cubicBezTo>
                  <a:pt x="217456" y="68806"/>
                  <a:pt x="223024" y="74704"/>
                  <a:pt x="230151" y="75122"/>
                </a:cubicBezTo>
                <a:cubicBezTo>
                  <a:pt x="237279" y="75541"/>
                  <a:pt x="243498" y="70335"/>
                  <a:pt x="244342" y="63245"/>
                </a:cubicBezTo>
                <a:lnTo>
                  <a:pt x="244436" y="61532"/>
                </a:lnTo>
                <a:cubicBezTo>
                  <a:pt x="244436" y="54079"/>
                  <a:pt x="238395" y="48038"/>
                  <a:pt x="230942" y="48038"/>
                </a:cubicBezTo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600694" y="17706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营养加餐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03361" y="2189321"/>
            <a:ext cx="23164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和主粮、罐头形成搭配销售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143000" y="4743450"/>
            <a:ext cx="3238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1468678" y="5094288"/>
            <a:ext cx="282082" cy="270020"/>
          </a:xfrm>
          <a:custGeom>
            <a:avLst/>
            <a:gdLst/>
            <a:ahLst/>
            <a:cxnLst/>
            <a:rect l="l" t="t" r="r" b="b"/>
            <a:pathLst>
              <a:path w="282082" h="270020">
                <a:moveTo>
                  <a:pt x="141021" y="0"/>
                </a:moveTo>
                <a:lnTo>
                  <a:pt x="142613" y="94"/>
                </a:lnTo>
                <a:lnTo>
                  <a:pt x="143409" y="202"/>
                </a:lnTo>
                <a:lnTo>
                  <a:pt x="144232" y="378"/>
                </a:lnTo>
                <a:lnTo>
                  <a:pt x="145730" y="837"/>
                </a:lnTo>
                <a:cubicBezTo>
                  <a:pt x="146765" y="1218"/>
                  <a:pt x="147748" y="1726"/>
                  <a:pt x="148658" y="2348"/>
                </a:cubicBezTo>
                <a:lnTo>
                  <a:pt x="150062" y="3454"/>
                </a:lnTo>
                <a:lnTo>
                  <a:pt x="153502" y="6396"/>
                </a:lnTo>
                <a:cubicBezTo>
                  <a:pt x="180724" y="29006"/>
                  <a:pt x="215127" y="41147"/>
                  <a:pt x="250509" y="40630"/>
                </a:cubicBezTo>
                <a:lnTo>
                  <a:pt x="255124" y="40495"/>
                </a:lnTo>
                <a:cubicBezTo>
                  <a:pt x="261333" y="40212"/>
                  <a:pt x="266933" y="44206"/>
                  <a:pt x="268685" y="50170"/>
                </a:cubicBezTo>
                <a:cubicBezTo>
                  <a:pt x="282082" y="95742"/>
                  <a:pt x="276425" y="144799"/>
                  <a:pt x="253008" y="186126"/>
                </a:cubicBezTo>
                <a:cubicBezTo>
                  <a:pt x="229590" y="227453"/>
                  <a:pt x="190413" y="257517"/>
                  <a:pt x="144435" y="269444"/>
                </a:cubicBezTo>
                <a:cubicBezTo>
                  <a:pt x="142213" y="270020"/>
                  <a:pt x="139882" y="270020"/>
                  <a:pt x="137661" y="269444"/>
                </a:cubicBezTo>
                <a:cubicBezTo>
                  <a:pt x="91679" y="257520"/>
                  <a:pt x="52500" y="227457"/>
                  <a:pt x="29079" y="186130"/>
                </a:cubicBezTo>
                <a:cubicBezTo>
                  <a:pt x="5659" y="144803"/>
                  <a:pt x="0" y="95744"/>
                  <a:pt x="13397" y="50170"/>
                </a:cubicBezTo>
                <a:cubicBezTo>
                  <a:pt x="15149" y="44206"/>
                  <a:pt x="20749" y="40212"/>
                  <a:pt x="26958" y="40495"/>
                </a:cubicBezTo>
                <a:cubicBezTo>
                  <a:pt x="63897" y="42183"/>
                  <a:pt x="100135" y="30024"/>
                  <a:pt x="128579" y="6396"/>
                </a:cubicBezTo>
                <a:lnTo>
                  <a:pt x="132128" y="3360"/>
                </a:lnTo>
                <a:lnTo>
                  <a:pt x="133424" y="2348"/>
                </a:lnTo>
                <a:cubicBezTo>
                  <a:pt x="134334" y="1726"/>
                  <a:pt x="135317" y="1218"/>
                  <a:pt x="136352" y="837"/>
                </a:cubicBezTo>
                <a:lnTo>
                  <a:pt x="137863" y="378"/>
                </a:lnTo>
                <a:cubicBezTo>
                  <a:pt x="138392" y="250"/>
                  <a:pt x="138928" y="155"/>
                  <a:pt x="139469" y="94"/>
                </a:cubicBezTo>
                <a:lnTo>
                  <a:pt x="141021" y="0"/>
                </a:lnTo>
                <a:close/>
                <a:moveTo>
                  <a:pt x="191083" y="98410"/>
                </a:moveTo>
                <a:cubicBezTo>
                  <a:pt x="188552" y="95876"/>
                  <a:pt x="185117" y="94453"/>
                  <a:pt x="181536" y="94453"/>
                </a:cubicBezTo>
                <a:cubicBezTo>
                  <a:pt x="177954" y="94453"/>
                  <a:pt x="174520" y="95876"/>
                  <a:pt x="171989" y="98410"/>
                </a:cubicBezTo>
                <a:lnTo>
                  <a:pt x="127554" y="142832"/>
                </a:lnTo>
                <a:lnTo>
                  <a:pt x="110106" y="125398"/>
                </a:lnTo>
                <a:lnTo>
                  <a:pt x="108838" y="124278"/>
                </a:lnTo>
                <a:cubicBezTo>
                  <a:pt x="103209" y="119926"/>
                  <a:pt x="95169" y="120691"/>
                  <a:pt x="90463" y="126028"/>
                </a:cubicBezTo>
                <a:cubicBezTo>
                  <a:pt x="85757" y="131365"/>
                  <a:pt x="86004" y="139438"/>
                  <a:pt x="91026" y="144478"/>
                </a:cubicBezTo>
                <a:lnTo>
                  <a:pt x="118014" y="171465"/>
                </a:lnTo>
                <a:lnTo>
                  <a:pt x="119282" y="172585"/>
                </a:lnTo>
                <a:cubicBezTo>
                  <a:pt x="124654" y="176752"/>
                  <a:pt x="132287" y="176272"/>
                  <a:pt x="137094" y="171465"/>
                </a:cubicBezTo>
                <a:lnTo>
                  <a:pt x="191069" y="117490"/>
                </a:lnTo>
                <a:lnTo>
                  <a:pt x="192189" y="116222"/>
                </a:lnTo>
                <a:cubicBezTo>
                  <a:pt x="196356" y="110850"/>
                  <a:pt x="195876" y="103218"/>
                  <a:pt x="191069" y="98410"/>
                </a:cubicBezTo>
                <a:close/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933194" y="50472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口腔护理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35861" y="5465921"/>
            <a:ext cx="25274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把“功能型零食”转为周期复购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4743450"/>
            <a:ext cx="3238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8142288" y="5133455"/>
            <a:ext cx="277598" cy="221727"/>
            <a:chOff x="8142288" y="5133455"/>
            <a:chExt cx="277598" cy="221727"/>
          </a:xfrm>
        </p:grpSpPr>
        <p:sp>
          <p:nvSpPr>
            <p:cNvPr id="32" name="Freeform 32"/>
            <p:cNvSpPr/>
            <p:nvPr/>
          </p:nvSpPr>
          <p:spPr>
            <a:xfrm>
              <a:off x="8142288" y="5134769"/>
              <a:ext cx="220413" cy="220413"/>
            </a:xfrm>
            <a:custGeom>
              <a:avLst/>
              <a:gdLst/>
              <a:ahLst/>
              <a:cxnLst/>
              <a:rect l="l" t="t" r="r" b="b"/>
              <a:pathLst>
                <a:path w="220413" h="220413">
                  <a:moveTo>
                    <a:pt x="96777" y="0"/>
                  </a:moveTo>
                  <a:cubicBezTo>
                    <a:pt x="107513" y="2"/>
                    <a:pt x="117808" y="4269"/>
                    <a:pt x="125398" y="11861"/>
                  </a:cubicBezTo>
                  <a:lnTo>
                    <a:pt x="202447" y="88911"/>
                  </a:lnTo>
                  <a:cubicBezTo>
                    <a:pt x="220413" y="106879"/>
                    <a:pt x="220413" y="136009"/>
                    <a:pt x="202447" y="153978"/>
                  </a:cubicBezTo>
                  <a:lnTo>
                    <a:pt x="153978" y="202447"/>
                  </a:lnTo>
                  <a:cubicBezTo>
                    <a:pt x="136009" y="220413"/>
                    <a:pt x="106879" y="220413"/>
                    <a:pt x="88911" y="202447"/>
                  </a:cubicBezTo>
                  <a:lnTo>
                    <a:pt x="11861" y="125398"/>
                  </a:lnTo>
                  <a:cubicBezTo>
                    <a:pt x="4269" y="117808"/>
                    <a:pt x="2" y="107513"/>
                    <a:pt x="0" y="96777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  <a:moveTo>
                    <a:pt x="67469" y="53975"/>
                  </a:moveTo>
                  <a:lnTo>
                    <a:pt x="67334" y="53975"/>
                  </a:lnTo>
                  <a:cubicBezTo>
                    <a:pt x="62513" y="53999"/>
                    <a:pt x="58071" y="56593"/>
                    <a:pt x="55682" y="60780"/>
                  </a:cubicBezTo>
                  <a:cubicBezTo>
                    <a:pt x="53292" y="64967"/>
                    <a:pt x="53318" y="70111"/>
                    <a:pt x="55749" y="74274"/>
                  </a:cubicBezTo>
                  <a:cubicBezTo>
                    <a:pt x="58181" y="78437"/>
                    <a:pt x="62648" y="80987"/>
                    <a:pt x="67469" y="80963"/>
                  </a:cubicBezTo>
                  <a:cubicBezTo>
                    <a:pt x="74921" y="80963"/>
                    <a:pt x="80963" y="74921"/>
                    <a:pt x="80963" y="67469"/>
                  </a:cubicBezTo>
                  <a:cubicBezTo>
                    <a:pt x="80963" y="60016"/>
                    <a:pt x="74921" y="53975"/>
                    <a:pt x="67469" y="53975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02912" y="5133455"/>
              <a:ext cx="116974" cy="204881"/>
            </a:xfrm>
            <a:custGeom>
              <a:avLst/>
              <a:gdLst/>
              <a:ahLst/>
              <a:cxnLst/>
              <a:rect l="l" t="t" r="r" b="b"/>
              <a:pathLst>
                <a:path w="116974" h="204881">
                  <a:moveTo>
                    <a:pt x="5254" y="5268"/>
                  </a:moveTo>
                  <a:cubicBezTo>
                    <a:pt x="10524" y="0"/>
                    <a:pt x="19065" y="0"/>
                    <a:pt x="24334" y="5268"/>
                  </a:cubicBezTo>
                  <a:lnTo>
                    <a:pt x="86311" y="67231"/>
                  </a:lnTo>
                  <a:cubicBezTo>
                    <a:pt x="116974" y="97899"/>
                    <a:pt x="116974" y="147617"/>
                    <a:pt x="86311" y="178285"/>
                  </a:cubicBezTo>
                  <a:lnTo>
                    <a:pt x="64829" y="199767"/>
                  </a:lnTo>
                  <a:cubicBezTo>
                    <a:pt x="59535" y="204881"/>
                    <a:pt x="51118" y="204808"/>
                    <a:pt x="45913" y="199603"/>
                  </a:cubicBezTo>
                  <a:cubicBezTo>
                    <a:pt x="40708" y="194398"/>
                    <a:pt x="40635" y="185982"/>
                    <a:pt x="45749" y="180687"/>
                  </a:cubicBezTo>
                  <a:lnTo>
                    <a:pt x="67231" y="159205"/>
                  </a:lnTo>
                  <a:cubicBezTo>
                    <a:pt x="87359" y="139075"/>
                    <a:pt x="87359" y="106441"/>
                    <a:pt x="67231" y="86311"/>
                  </a:cubicBezTo>
                  <a:lnTo>
                    <a:pt x="5268" y="24348"/>
                  </a:lnTo>
                  <a:cubicBezTo>
                    <a:pt x="0" y="19079"/>
                    <a:pt x="0" y="10537"/>
                    <a:pt x="5268" y="526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8600694" y="50472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训练互动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03361" y="5465921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适合社群打卡、训练课和活动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5785" y="6298406"/>
            <a:ext cx="27861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商品分类、标签和适用文案重构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117" y="394811"/>
            <a:ext cx="9605762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前台购买链路已经具备从种草到下单的演示闭环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880" y="942975"/>
            <a:ext cx="6275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静态商城不止展示商品，还能演示筛选、详情、加购、地址与订单写入</a:t>
            </a:r>
          </a:p>
        </p:txBody>
      </p:sp>
      <p:sp>
        <p:nvSpPr>
          <p:cNvPr id="5" name="Line 5"/>
          <p:cNvSpPr/>
          <p:nvPr/>
        </p:nvSpPr>
        <p:spPr>
          <a:xfrm>
            <a:off x="1104900" y="2400300"/>
            <a:ext cx="9544050" cy="9525"/>
          </a:xfrm>
          <a:custGeom>
            <a:avLst/>
            <a:gdLst/>
            <a:ahLst/>
            <a:cxnLst/>
            <a:rect l="l" t="t" r="r" b="b"/>
            <a:pathLst>
              <a:path w="9544050" h="9525">
                <a:moveTo>
                  <a:pt x="0" y="0"/>
                </a:moveTo>
                <a:lnTo>
                  <a:pt x="9544050" y="0"/>
                </a:lnTo>
              </a:path>
            </a:pathLst>
          </a:custGeom>
          <a:noFill/>
          <a:ln w="38100" cap="rnd">
            <a:solidFill>
              <a:srgbClr val="8EB69B"/>
            </a:solidFill>
          </a:ln>
        </p:spPr>
      </p:sp>
      <p:sp>
        <p:nvSpPr>
          <p:cNvPr id="6" name="Polygon 6"/>
          <p:cNvSpPr/>
          <p:nvPr/>
        </p:nvSpPr>
        <p:spPr>
          <a:xfrm>
            <a:off x="10648950" y="2305050"/>
            <a:ext cx="228600" cy="190500"/>
          </a:xfrm>
          <a:custGeom>
            <a:avLst/>
            <a:gdLst/>
            <a:ahLst/>
            <a:cxnLst/>
            <a:rect l="l" t="t" r="r" b="b"/>
            <a:pathLst>
              <a:path w="228600" h="190500">
                <a:moveTo>
                  <a:pt x="0" y="0"/>
                </a:moveTo>
                <a:lnTo>
                  <a:pt x="2286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8EB69B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67640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162050" y="1714500"/>
            <a:ext cx="533400" cy="533400"/>
          </a:xfrm>
          <a:prstGeom prst="ellipse">
            <a:avLst/>
          </a:prstGeom>
          <a:solidFill>
            <a:srgbClr val="EEF4EC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301750" y="1891063"/>
            <a:ext cx="261269" cy="208683"/>
            <a:chOff x="1301750" y="1891063"/>
            <a:chExt cx="261269" cy="208683"/>
          </a:xfrm>
        </p:grpSpPr>
        <p:sp>
          <p:nvSpPr>
            <p:cNvPr id="9" name="Freeform 9"/>
            <p:cNvSpPr/>
            <p:nvPr/>
          </p:nvSpPr>
          <p:spPr>
            <a:xfrm>
              <a:off x="1301750" y="1892300"/>
              <a:ext cx="207446" cy="207446"/>
            </a:xfrm>
            <a:custGeom>
              <a:avLst/>
              <a:gdLst/>
              <a:ahLst/>
              <a:cxnLst/>
              <a:rect l="l" t="t" r="r" b="b"/>
              <a:pathLst>
                <a:path w="207446" h="207446">
                  <a:moveTo>
                    <a:pt x="91084" y="0"/>
                  </a:moveTo>
                  <a:cubicBezTo>
                    <a:pt x="101188" y="2"/>
                    <a:pt x="110877" y="4018"/>
                    <a:pt x="118021" y="11163"/>
                  </a:cubicBezTo>
                  <a:lnTo>
                    <a:pt x="190538" y="83680"/>
                  </a:lnTo>
                  <a:cubicBezTo>
                    <a:pt x="207446" y="100592"/>
                    <a:pt x="207446" y="128008"/>
                    <a:pt x="190538" y="144919"/>
                  </a:cubicBezTo>
                  <a:lnTo>
                    <a:pt x="144919" y="190538"/>
                  </a:lnTo>
                  <a:cubicBezTo>
                    <a:pt x="128008" y="207446"/>
                    <a:pt x="100592" y="207446"/>
                    <a:pt x="83680" y="190538"/>
                  </a:cubicBezTo>
                  <a:lnTo>
                    <a:pt x="11163" y="118021"/>
                  </a:lnTo>
                  <a:cubicBezTo>
                    <a:pt x="4018" y="110877"/>
                    <a:pt x="2" y="101188"/>
                    <a:pt x="0" y="9108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50800"/>
                  </a:moveTo>
                  <a:lnTo>
                    <a:pt x="63373" y="50800"/>
                  </a:lnTo>
                  <a:cubicBezTo>
                    <a:pt x="58836" y="50823"/>
                    <a:pt x="54655" y="53264"/>
                    <a:pt x="52406" y="57205"/>
                  </a:cubicBezTo>
                  <a:cubicBezTo>
                    <a:pt x="50157" y="61146"/>
                    <a:pt x="50181" y="65987"/>
                    <a:pt x="52470" y="69905"/>
                  </a:cubicBezTo>
                  <a:cubicBezTo>
                    <a:pt x="54758" y="73823"/>
                    <a:pt x="58963" y="76222"/>
                    <a:pt x="63500" y="76200"/>
                  </a:cubicBezTo>
                  <a:cubicBezTo>
                    <a:pt x="70514" y="76200"/>
                    <a:pt x="76200" y="70514"/>
                    <a:pt x="76200" y="63500"/>
                  </a:cubicBezTo>
                  <a:cubicBezTo>
                    <a:pt x="76200" y="56486"/>
                    <a:pt x="70514" y="50800"/>
                    <a:pt x="63500" y="50800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52926" y="1891063"/>
              <a:ext cx="110093" cy="192828"/>
            </a:xfrm>
            <a:custGeom>
              <a:avLst/>
              <a:gdLst/>
              <a:ahLst/>
              <a:cxnLst/>
              <a:rect l="l" t="t" r="r" b="b"/>
              <a:pathLst>
                <a:path w="110093" h="192828">
                  <a:moveTo>
                    <a:pt x="4945" y="4958"/>
                  </a:moveTo>
                  <a:cubicBezTo>
                    <a:pt x="9904" y="0"/>
                    <a:pt x="17944" y="0"/>
                    <a:pt x="22903" y="4958"/>
                  </a:cubicBezTo>
                  <a:lnTo>
                    <a:pt x="81234" y="63276"/>
                  </a:lnTo>
                  <a:cubicBezTo>
                    <a:pt x="110093" y="92140"/>
                    <a:pt x="110093" y="138933"/>
                    <a:pt x="81234" y="167797"/>
                  </a:cubicBezTo>
                  <a:lnTo>
                    <a:pt x="61015" y="188015"/>
                  </a:lnTo>
                  <a:cubicBezTo>
                    <a:pt x="56032" y="192828"/>
                    <a:pt x="48111" y="192759"/>
                    <a:pt x="43212" y="187860"/>
                  </a:cubicBezTo>
                  <a:cubicBezTo>
                    <a:pt x="38314" y="182962"/>
                    <a:pt x="38245" y="175041"/>
                    <a:pt x="43058" y="170057"/>
                  </a:cubicBezTo>
                  <a:lnTo>
                    <a:pt x="63276" y="149839"/>
                  </a:lnTo>
                  <a:cubicBezTo>
                    <a:pt x="82219" y="130894"/>
                    <a:pt x="82219" y="100179"/>
                    <a:pt x="63276" y="81234"/>
                  </a:cubicBezTo>
                  <a:lnTo>
                    <a:pt x="4958" y="22916"/>
                  </a:lnTo>
                  <a:cubicBezTo>
                    <a:pt x="0" y="17956"/>
                    <a:pt x="0" y="9917"/>
                    <a:pt x="4958" y="4958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10742" y="23774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分类筛选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812" y="27308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宠物和食品类型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167640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3448050" y="1714500"/>
            <a:ext cx="533400" cy="533400"/>
          </a:xfrm>
          <a:prstGeom prst="ellipse">
            <a:avLst/>
          </a:prstGeom>
          <a:solidFill>
            <a:srgbClr val="EEF4EC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3593008" y="1872013"/>
            <a:ext cx="236042" cy="212023"/>
            <a:chOff x="3593008" y="1872013"/>
            <a:chExt cx="236042" cy="212023"/>
          </a:xfrm>
        </p:grpSpPr>
        <p:sp>
          <p:nvSpPr>
            <p:cNvPr id="16" name="Freeform 16"/>
            <p:cNvSpPr/>
            <p:nvPr/>
          </p:nvSpPr>
          <p:spPr>
            <a:xfrm>
              <a:off x="3593008" y="1872013"/>
              <a:ext cx="78528" cy="59623"/>
            </a:xfrm>
            <a:custGeom>
              <a:avLst/>
              <a:gdLst/>
              <a:ahLst/>
              <a:cxnLst/>
              <a:rect l="l" t="t" r="r" b="b"/>
              <a:pathLst>
                <a:path w="78528" h="59623">
                  <a:moveTo>
                    <a:pt x="73571" y="4958"/>
                  </a:moveTo>
                  <a:cubicBezTo>
                    <a:pt x="78528" y="9917"/>
                    <a:pt x="78528" y="17956"/>
                    <a:pt x="73571" y="22916"/>
                  </a:cubicBezTo>
                  <a:lnTo>
                    <a:pt x="41821" y="54666"/>
                  </a:lnTo>
                  <a:cubicBezTo>
                    <a:pt x="36861" y="59623"/>
                    <a:pt x="28822" y="59623"/>
                    <a:pt x="23863" y="54666"/>
                  </a:cubicBezTo>
                  <a:lnTo>
                    <a:pt x="4813" y="35616"/>
                  </a:lnTo>
                  <a:cubicBezTo>
                    <a:pt x="0" y="30632"/>
                    <a:pt x="69" y="22711"/>
                    <a:pt x="4968" y="17813"/>
                  </a:cubicBezTo>
                  <a:cubicBezTo>
                    <a:pt x="9866" y="12914"/>
                    <a:pt x="17787" y="12845"/>
                    <a:pt x="22771" y="17658"/>
                  </a:cubicBezTo>
                  <a:lnTo>
                    <a:pt x="32842" y="27729"/>
                  </a:lnTo>
                  <a:lnTo>
                    <a:pt x="55613" y="4958"/>
                  </a:lnTo>
                  <a:cubicBezTo>
                    <a:pt x="60572" y="0"/>
                    <a:pt x="68611" y="0"/>
                    <a:pt x="73571" y="4958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593008" y="1948213"/>
              <a:ext cx="78528" cy="59623"/>
            </a:xfrm>
            <a:custGeom>
              <a:avLst/>
              <a:gdLst/>
              <a:ahLst/>
              <a:cxnLst/>
              <a:rect l="l" t="t" r="r" b="b"/>
              <a:pathLst>
                <a:path w="78528" h="59623">
                  <a:moveTo>
                    <a:pt x="73571" y="4958"/>
                  </a:moveTo>
                  <a:cubicBezTo>
                    <a:pt x="78528" y="9917"/>
                    <a:pt x="78528" y="17956"/>
                    <a:pt x="73571" y="22916"/>
                  </a:cubicBezTo>
                  <a:lnTo>
                    <a:pt x="41821" y="54666"/>
                  </a:lnTo>
                  <a:cubicBezTo>
                    <a:pt x="36861" y="59623"/>
                    <a:pt x="28822" y="59623"/>
                    <a:pt x="23863" y="54666"/>
                  </a:cubicBezTo>
                  <a:lnTo>
                    <a:pt x="4813" y="35616"/>
                  </a:lnTo>
                  <a:cubicBezTo>
                    <a:pt x="0" y="30632"/>
                    <a:pt x="69" y="22711"/>
                    <a:pt x="4968" y="17813"/>
                  </a:cubicBezTo>
                  <a:cubicBezTo>
                    <a:pt x="9866" y="12914"/>
                    <a:pt x="17787" y="12845"/>
                    <a:pt x="22771" y="17658"/>
                  </a:cubicBezTo>
                  <a:lnTo>
                    <a:pt x="32842" y="27729"/>
                  </a:lnTo>
                  <a:lnTo>
                    <a:pt x="55613" y="4958"/>
                  </a:lnTo>
                  <a:cubicBezTo>
                    <a:pt x="60572" y="0"/>
                    <a:pt x="68611" y="0"/>
                    <a:pt x="73571" y="4958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93008" y="2024413"/>
              <a:ext cx="78528" cy="59623"/>
            </a:xfrm>
            <a:custGeom>
              <a:avLst/>
              <a:gdLst/>
              <a:ahLst/>
              <a:cxnLst/>
              <a:rect l="l" t="t" r="r" b="b"/>
              <a:pathLst>
                <a:path w="78528" h="59623">
                  <a:moveTo>
                    <a:pt x="73571" y="4958"/>
                  </a:moveTo>
                  <a:cubicBezTo>
                    <a:pt x="78528" y="9917"/>
                    <a:pt x="78528" y="17956"/>
                    <a:pt x="73571" y="22916"/>
                  </a:cubicBezTo>
                  <a:lnTo>
                    <a:pt x="41821" y="54666"/>
                  </a:lnTo>
                  <a:cubicBezTo>
                    <a:pt x="36861" y="59623"/>
                    <a:pt x="28822" y="59623"/>
                    <a:pt x="23863" y="54666"/>
                  </a:cubicBezTo>
                  <a:lnTo>
                    <a:pt x="4813" y="35616"/>
                  </a:lnTo>
                  <a:cubicBezTo>
                    <a:pt x="0" y="30632"/>
                    <a:pt x="69" y="22711"/>
                    <a:pt x="4968" y="17813"/>
                  </a:cubicBezTo>
                  <a:cubicBezTo>
                    <a:pt x="9866" y="12914"/>
                    <a:pt x="17787" y="12845"/>
                    <a:pt x="22771" y="17658"/>
                  </a:cubicBezTo>
                  <a:lnTo>
                    <a:pt x="32842" y="27729"/>
                  </a:lnTo>
                  <a:lnTo>
                    <a:pt x="55613" y="4958"/>
                  </a:lnTo>
                  <a:cubicBezTo>
                    <a:pt x="60572" y="0"/>
                    <a:pt x="68611" y="0"/>
                    <a:pt x="73571" y="4958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689350" y="1892300"/>
              <a:ext cx="139700" cy="25400"/>
            </a:xfrm>
            <a:custGeom>
              <a:avLst/>
              <a:gdLst/>
              <a:ahLst/>
              <a:cxnLst/>
              <a:rect l="l" t="t" r="r" b="b"/>
              <a:pathLst>
                <a:path w="139700" h="25400">
                  <a:moveTo>
                    <a:pt x="139700" y="12700"/>
                  </a:moveTo>
                  <a:cubicBezTo>
                    <a:pt x="139700" y="19714"/>
                    <a:pt x="134014" y="25400"/>
                    <a:pt x="127000" y="25400"/>
                  </a:cubicBezTo>
                  <a:lnTo>
                    <a:pt x="12700" y="25400"/>
                  </a:lnTo>
                  <a:cubicBezTo>
                    <a:pt x="5686" y="25400"/>
                    <a:pt x="0" y="19714"/>
                    <a:pt x="0" y="12700"/>
                  </a:cubicBezTo>
                  <a:cubicBezTo>
                    <a:pt x="0" y="5686"/>
                    <a:pt x="5686" y="0"/>
                    <a:pt x="12700" y="0"/>
                  </a:cubicBezTo>
                  <a:lnTo>
                    <a:pt x="127000" y="0"/>
                  </a:lnTo>
                  <a:cubicBezTo>
                    <a:pt x="134014" y="0"/>
                    <a:pt x="139700" y="5686"/>
                    <a:pt x="139700" y="12700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689350" y="1968500"/>
              <a:ext cx="139700" cy="25400"/>
            </a:xfrm>
            <a:custGeom>
              <a:avLst/>
              <a:gdLst/>
              <a:ahLst/>
              <a:cxnLst/>
              <a:rect l="l" t="t" r="r" b="b"/>
              <a:pathLst>
                <a:path w="139700" h="25400">
                  <a:moveTo>
                    <a:pt x="139700" y="12700"/>
                  </a:moveTo>
                  <a:cubicBezTo>
                    <a:pt x="139700" y="19714"/>
                    <a:pt x="134014" y="25400"/>
                    <a:pt x="127000" y="25400"/>
                  </a:cubicBezTo>
                  <a:lnTo>
                    <a:pt x="12700" y="25400"/>
                  </a:lnTo>
                  <a:cubicBezTo>
                    <a:pt x="5686" y="25400"/>
                    <a:pt x="0" y="19714"/>
                    <a:pt x="0" y="12700"/>
                  </a:cubicBezTo>
                  <a:cubicBezTo>
                    <a:pt x="0" y="5686"/>
                    <a:pt x="5686" y="0"/>
                    <a:pt x="12700" y="0"/>
                  </a:cubicBezTo>
                  <a:lnTo>
                    <a:pt x="127000" y="0"/>
                  </a:lnTo>
                  <a:cubicBezTo>
                    <a:pt x="134014" y="0"/>
                    <a:pt x="139700" y="5686"/>
                    <a:pt x="139700" y="12700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689350" y="2044699"/>
              <a:ext cx="139700" cy="25400"/>
            </a:xfrm>
            <a:custGeom>
              <a:avLst/>
              <a:gdLst/>
              <a:ahLst/>
              <a:cxnLst/>
              <a:rect l="l" t="t" r="r" b="b"/>
              <a:pathLst>
                <a:path w="139700" h="25400">
                  <a:moveTo>
                    <a:pt x="139700" y="12700"/>
                  </a:moveTo>
                  <a:cubicBezTo>
                    <a:pt x="139700" y="19714"/>
                    <a:pt x="134014" y="25400"/>
                    <a:pt x="127000" y="25400"/>
                  </a:cubicBezTo>
                  <a:lnTo>
                    <a:pt x="12700" y="25400"/>
                  </a:lnTo>
                  <a:cubicBezTo>
                    <a:pt x="5686" y="25400"/>
                    <a:pt x="0" y="19714"/>
                    <a:pt x="0" y="12700"/>
                  </a:cubicBezTo>
                  <a:cubicBezTo>
                    <a:pt x="0" y="5686"/>
                    <a:pt x="5686" y="0"/>
                    <a:pt x="12700" y="0"/>
                  </a:cubicBezTo>
                  <a:lnTo>
                    <a:pt x="127000" y="0"/>
                  </a:lnTo>
                  <a:cubicBezTo>
                    <a:pt x="134014" y="0"/>
                    <a:pt x="139700" y="5686"/>
                    <a:pt x="139700" y="12700"/>
                  </a:cubicBezTo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3196742" y="23774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查看详情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71812" y="27308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成分和适用场景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143500" y="167640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5734050" y="1714500"/>
            <a:ext cx="533400" cy="533400"/>
          </a:xfrm>
          <a:prstGeom prst="ellipse">
            <a:avLst/>
          </a:prstGeom>
          <a:solidFill>
            <a:srgbClr val="EEF4E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886450" y="1854200"/>
            <a:ext cx="228780" cy="256773"/>
          </a:xfrm>
          <a:custGeom>
            <a:avLst/>
            <a:gdLst/>
            <a:ahLst/>
            <a:cxnLst/>
            <a:rect l="l" t="t" r="r" b="b"/>
            <a:pathLst>
              <a:path w="228780" h="256773">
                <a:moveTo>
                  <a:pt x="38100" y="0"/>
                </a:moveTo>
                <a:cubicBezTo>
                  <a:pt x="44538" y="1"/>
                  <a:pt x="49958" y="4820"/>
                  <a:pt x="50711" y="11214"/>
                </a:cubicBezTo>
                <a:lnTo>
                  <a:pt x="50800" y="12700"/>
                </a:lnTo>
                <a:lnTo>
                  <a:pt x="50800" y="26264"/>
                </a:lnTo>
                <a:lnTo>
                  <a:pt x="216801" y="38138"/>
                </a:lnTo>
                <a:cubicBezTo>
                  <a:pt x="223580" y="38618"/>
                  <a:pt x="228780" y="44349"/>
                  <a:pt x="228599" y="51143"/>
                </a:cubicBezTo>
                <a:lnTo>
                  <a:pt x="228472" y="52591"/>
                </a:lnTo>
                <a:lnTo>
                  <a:pt x="215772" y="141490"/>
                </a:lnTo>
                <a:cubicBezTo>
                  <a:pt x="214959" y="147216"/>
                  <a:pt x="210381" y="151670"/>
                  <a:pt x="204635" y="152323"/>
                </a:cubicBezTo>
                <a:lnTo>
                  <a:pt x="203199" y="152400"/>
                </a:lnTo>
                <a:lnTo>
                  <a:pt x="50800" y="152400"/>
                </a:lnTo>
                <a:lnTo>
                  <a:pt x="50800" y="177800"/>
                </a:lnTo>
                <a:lnTo>
                  <a:pt x="177800" y="177800"/>
                </a:lnTo>
                <a:cubicBezTo>
                  <a:pt x="198551" y="177801"/>
                  <a:pt x="215485" y="194408"/>
                  <a:pt x="215890" y="215155"/>
                </a:cubicBezTo>
                <a:cubicBezTo>
                  <a:pt x="216295" y="235903"/>
                  <a:pt x="200023" y="253159"/>
                  <a:pt x="179287" y="253970"/>
                </a:cubicBezTo>
                <a:cubicBezTo>
                  <a:pt x="158552" y="254782"/>
                  <a:pt x="140981" y="238850"/>
                  <a:pt x="139763" y="218135"/>
                </a:cubicBezTo>
                <a:lnTo>
                  <a:pt x="139700" y="215899"/>
                </a:lnTo>
                <a:lnTo>
                  <a:pt x="139763" y="213664"/>
                </a:lnTo>
                <a:cubicBezTo>
                  <a:pt x="139979" y="210007"/>
                  <a:pt x="140703" y="206501"/>
                  <a:pt x="141871" y="203199"/>
                </a:cubicBezTo>
                <a:lnTo>
                  <a:pt x="74028" y="203199"/>
                </a:lnTo>
                <a:cubicBezTo>
                  <a:pt x="78978" y="217240"/>
                  <a:pt x="75297" y="232878"/>
                  <a:pt x="64602" y="243235"/>
                </a:cubicBezTo>
                <a:cubicBezTo>
                  <a:pt x="53908" y="253593"/>
                  <a:pt x="38161" y="256773"/>
                  <a:pt x="24286" y="251376"/>
                </a:cubicBezTo>
                <a:cubicBezTo>
                  <a:pt x="10410" y="245980"/>
                  <a:pt x="949" y="232996"/>
                  <a:pt x="63" y="218135"/>
                </a:cubicBezTo>
                <a:lnTo>
                  <a:pt x="0" y="215899"/>
                </a:lnTo>
                <a:lnTo>
                  <a:pt x="63" y="213664"/>
                </a:lnTo>
                <a:cubicBezTo>
                  <a:pt x="962" y="198356"/>
                  <a:pt x="10945" y="185076"/>
                  <a:pt x="25400" y="179959"/>
                </a:cubicBezTo>
                <a:lnTo>
                  <a:pt x="25400" y="25400"/>
                </a:lnTo>
                <a:lnTo>
                  <a:pt x="12700" y="25400"/>
                </a:lnTo>
                <a:cubicBezTo>
                  <a:pt x="6261" y="25399"/>
                  <a:pt x="842" y="20580"/>
                  <a:pt x="89" y="14186"/>
                </a:cubicBezTo>
                <a:lnTo>
                  <a:pt x="0" y="12700"/>
                </a:lnTo>
                <a:cubicBezTo>
                  <a:pt x="1" y="6261"/>
                  <a:pt x="4820" y="842"/>
                  <a:pt x="11214" y="89"/>
                </a:cubicBezTo>
                <a:lnTo>
                  <a:pt x="12700" y="0"/>
                </a:lnTo>
                <a:lnTo>
                  <a:pt x="38100" y="0"/>
                </a:lnTo>
                <a:close/>
                <a:moveTo>
                  <a:pt x="38100" y="203199"/>
                </a:moveTo>
                <a:cubicBezTo>
                  <a:pt x="31086" y="203199"/>
                  <a:pt x="25400" y="208885"/>
                  <a:pt x="25400" y="215899"/>
                </a:cubicBezTo>
                <a:cubicBezTo>
                  <a:pt x="25400" y="222913"/>
                  <a:pt x="31086" y="228599"/>
                  <a:pt x="38100" y="228599"/>
                </a:cubicBezTo>
                <a:cubicBezTo>
                  <a:pt x="45114" y="228599"/>
                  <a:pt x="50800" y="222913"/>
                  <a:pt x="50800" y="215899"/>
                </a:cubicBezTo>
                <a:cubicBezTo>
                  <a:pt x="50800" y="208885"/>
                  <a:pt x="45114" y="203199"/>
                  <a:pt x="38100" y="203199"/>
                </a:cubicBezTo>
                <a:moveTo>
                  <a:pt x="177800" y="203199"/>
                </a:moveTo>
                <a:cubicBezTo>
                  <a:pt x="170786" y="203199"/>
                  <a:pt x="165100" y="208885"/>
                  <a:pt x="165100" y="215899"/>
                </a:cubicBezTo>
                <a:cubicBezTo>
                  <a:pt x="165100" y="222913"/>
                  <a:pt x="170786" y="228599"/>
                  <a:pt x="177800" y="228599"/>
                </a:cubicBezTo>
                <a:cubicBezTo>
                  <a:pt x="184814" y="228599"/>
                  <a:pt x="190500" y="222913"/>
                  <a:pt x="190500" y="215899"/>
                </a:cubicBezTo>
                <a:cubicBezTo>
                  <a:pt x="190500" y="208885"/>
                  <a:pt x="184814" y="203199"/>
                  <a:pt x="177800" y="203199"/>
                </a:cubicBezTo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355526" y="237744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加入购物车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57812" y="27308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数量和总价联动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429500" y="167640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8020050" y="1714500"/>
            <a:ext cx="533400" cy="533400"/>
          </a:xfrm>
          <a:prstGeom prst="ellipse">
            <a:avLst/>
          </a:prstGeom>
          <a:solidFill>
            <a:srgbClr val="EEF4EC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8197850" y="1854200"/>
            <a:ext cx="177800" cy="254000"/>
            <a:chOff x="8197850" y="1854200"/>
            <a:chExt cx="177800" cy="254000"/>
          </a:xfrm>
        </p:grpSpPr>
        <p:sp>
          <p:nvSpPr>
            <p:cNvPr id="32" name="Freeform 32"/>
            <p:cNvSpPr/>
            <p:nvPr/>
          </p:nvSpPr>
          <p:spPr>
            <a:xfrm>
              <a:off x="8223250" y="18542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lnTo>
                    <a:pt x="63" y="60744"/>
                  </a:lnTo>
                  <a:cubicBezTo>
                    <a:pt x="1539" y="26779"/>
                    <a:pt x="29503" y="2"/>
                    <a:pt x="63500" y="0"/>
                  </a:cubicBezTo>
                  <a:close/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197850" y="2006600"/>
              <a:ext cx="177800" cy="101600"/>
            </a:xfrm>
            <a:custGeom>
              <a:avLst/>
              <a:gdLst/>
              <a:ahLst/>
              <a:cxnLst/>
              <a:rect l="l" t="t" r="r" b="b"/>
              <a:pathLst>
                <a:path w="177800" h="101600">
                  <a:moveTo>
                    <a:pt x="114300" y="0"/>
                  </a:moveTo>
                  <a:cubicBezTo>
                    <a:pt x="149370" y="0"/>
                    <a:pt x="177800" y="28430"/>
                    <a:pt x="177800" y="63500"/>
                  </a:cubicBezTo>
                  <a:lnTo>
                    <a:pt x="177800" y="76200"/>
                  </a:lnTo>
                  <a:cubicBezTo>
                    <a:pt x="177800" y="90228"/>
                    <a:pt x="166428" y="101600"/>
                    <a:pt x="152400" y="101600"/>
                  </a:cubicBezTo>
                  <a:lnTo>
                    <a:pt x="25400" y="101600"/>
                  </a:lnTo>
                  <a:cubicBezTo>
                    <a:pt x="11372" y="101600"/>
                    <a:pt x="0" y="90228"/>
                    <a:pt x="0" y="762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lnTo>
                    <a:pt x="114300" y="0"/>
                  </a:lnTo>
                  <a:close/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768742" y="23774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填写地址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43812" y="27308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用户与收货信息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715500" y="167640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0306050" y="1714500"/>
            <a:ext cx="533400" cy="533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0471150" y="1854200"/>
            <a:ext cx="203200" cy="255254"/>
          </a:xfrm>
          <a:custGeom>
            <a:avLst/>
            <a:gdLst/>
            <a:ahLst/>
            <a:cxnLst/>
            <a:rect l="l" t="t" r="r" b="b"/>
            <a:pathLst>
              <a:path w="203200" h="255254">
                <a:moveTo>
                  <a:pt x="165100" y="0"/>
                </a:moveTo>
                <a:cubicBezTo>
                  <a:pt x="186142" y="0"/>
                  <a:pt x="203199" y="17058"/>
                  <a:pt x="203199" y="38100"/>
                </a:cubicBezTo>
                <a:lnTo>
                  <a:pt x="203199" y="241299"/>
                </a:lnTo>
                <a:cubicBezTo>
                  <a:pt x="203200" y="245984"/>
                  <a:pt x="200622" y="250289"/>
                  <a:pt x="196491" y="252499"/>
                </a:cubicBezTo>
                <a:cubicBezTo>
                  <a:pt x="192360" y="254709"/>
                  <a:pt x="187348" y="254466"/>
                  <a:pt x="183451" y="251866"/>
                </a:cubicBezTo>
                <a:lnTo>
                  <a:pt x="154013" y="232244"/>
                </a:lnTo>
                <a:lnTo>
                  <a:pt x="135979" y="250278"/>
                </a:lnTo>
                <a:cubicBezTo>
                  <a:pt x="131454" y="254802"/>
                  <a:pt x="124270" y="255254"/>
                  <a:pt x="119215" y="251332"/>
                </a:cubicBezTo>
                <a:lnTo>
                  <a:pt x="118021" y="250278"/>
                </a:lnTo>
                <a:lnTo>
                  <a:pt x="101600" y="233870"/>
                </a:lnTo>
                <a:lnTo>
                  <a:pt x="85179" y="250278"/>
                </a:lnTo>
                <a:cubicBezTo>
                  <a:pt x="80654" y="254802"/>
                  <a:pt x="73470" y="255254"/>
                  <a:pt x="68415" y="251332"/>
                </a:cubicBezTo>
                <a:lnTo>
                  <a:pt x="67221" y="250278"/>
                </a:lnTo>
                <a:lnTo>
                  <a:pt x="49174" y="232244"/>
                </a:lnTo>
                <a:lnTo>
                  <a:pt x="19748" y="251866"/>
                </a:lnTo>
                <a:lnTo>
                  <a:pt x="19507" y="252018"/>
                </a:lnTo>
                <a:lnTo>
                  <a:pt x="18821" y="252399"/>
                </a:lnTo>
                <a:lnTo>
                  <a:pt x="18466" y="252615"/>
                </a:lnTo>
                <a:lnTo>
                  <a:pt x="17780" y="252907"/>
                </a:lnTo>
                <a:lnTo>
                  <a:pt x="17145" y="253199"/>
                </a:lnTo>
                <a:lnTo>
                  <a:pt x="16523" y="253390"/>
                </a:lnTo>
                <a:lnTo>
                  <a:pt x="15761" y="253631"/>
                </a:lnTo>
                <a:lnTo>
                  <a:pt x="15100" y="253745"/>
                </a:lnTo>
                <a:lnTo>
                  <a:pt x="14376" y="253885"/>
                </a:lnTo>
                <a:lnTo>
                  <a:pt x="13310" y="253961"/>
                </a:lnTo>
                <a:lnTo>
                  <a:pt x="12979" y="253999"/>
                </a:lnTo>
                <a:lnTo>
                  <a:pt x="12700" y="253999"/>
                </a:lnTo>
                <a:lnTo>
                  <a:pt x="12078" y="253961"/>
                </a:lnTo>
                <a:lnTo>
                  <a:pt x="11582" y="253961"/>
                </a:lnTo>
                <a:lnTo>
                  <a:pt x="11417" y="253923"/>
                </a:lnTo>
                <a:lnTo>
                  <a:pt x="11214" y="253923"/>
                </a:lnTo>
                <a:lnTo>
                  <a:pt x="10693" y="253822"/>
                </a:lnTo>
                <a:lnTo>
                  <a:pt x="10211" y="253758"/>
                </a:lnTo>
                <a:lnTo>
                  <a:pt x="10020" y="253695"/>
                </a:lnTo>
                <a:lnTo>
                  <a:pt x="9792" y="253669"/>
                </a:lnTo>
                <a:lnTo>
                  <a:pt x="9360" y="253529"/>
                </a:lnTo>
                <a:lnTo>
                  <a:pt x="8852" y="253402"/>
                </a:lnTo>
                <a:lnTo>
                  <a:pt x="8611" y="253314"/>
                </a:lnTo>
                <a:lnTo>
                  <a:pt x="8420" y="253263"/>
                </a:lnTo>
                <a:lnTo>
                  <a:pt x="8052" y="253098"/>
                </a:lnTo>
                <a:lnTo>
                  <a:pt x="7544" y="252907"/>
                </a:lnTo>
                <a:lnTo>
                  <a:pt x="7277" y="252767"/>
                </a:lnTo>
                <a:lnTo>
                  <a:pt x="7112" y="252704"/>
                </a:lnTo>
                <a:lnTo>
                  <a:pt x="6756" y="252501"/>
                </a:lnTo>
                <a:lnTo>
                  <a:pt x="6299" y="252272"/>
                </a:lnTo>
                <a:lnTo>
                  <a:pt x="6121" y="252145"/>
                </a:lnTo>
                <a:lnTo>
                  <a:pt x="5893" y="252018"/>
                </a:lnTo>
                <a:lnTo>
                  <a:pt x="5410" y="251675"/>
                </a:lnTo>
                <a:lnTo>
                  <a:pt x="5131" y="251497"/>
                </a:lnTo>
                <a:lnTo>
                  <a:pt x="5004" y="251383"/>
                </a:lnTo>
                <a:lnTo>
                  <a:pt x="4750" y="251205"/>
                </a:lnTo>
                <a:lnTo>
                  <a:pt x="4178" y="250685"/>
                </a:lnTo>
                <a:lnTo>
                  <a:pt x="4026" y="250583"/>
                </a:lnTo>
                <a:lnTo>
                  <a:pt x="3721" y="250278"/>
                </a:lnTo>
                <a:lnTo>
                  <a:pt x="3277" y="249783"/>
                </a:lnTo>
                <a:lnTo>
                  <a:pt x="3023" y="249529"/>
                </a:lnTo>
                <a:lnTo>
                  <a:pt x="2934" y="249389"/>
                </a:lnTo>
                <a:lnTo>
                  <a:pt x="2794" y="249237"/>
                </a:lnTo>
                <a:lnTo>
                  <a:pt x="2388" y="248665"/>
                </a:lnTo>
                <a:lnTo>
                  <a:pt x="2134" y="248348"/>
                </a:lnTo>
                <a:lnTo>
                  <a:pt x="1981" y="248107"/>
                </a:lnTo>
                <a:lnTo>
                  <a:pt x="1600" y="247421"/>
                </a:lnTo>
                <a:lnTo>
                  <a:pt x="1384" y="247065"/>
                </a:lnTo>
                <a:lnTo>
                  <a:pt x="1092" y="246379"/>
                </a:lnTo>
                <a:lnTo>
                  <a:pt x="800" y="245744"/>
                </a:lnTo>
                <a:cubicBezTo>
                  <a:pt x="630" y="245296"/>
                  <a:pt x="486" y="244838"/>
                  <a:pt x="368" y="244373"/>
                </a:cubicBezTo>
                <a:lnTo>
                  <a:pt x="241" y="243649"/>
                </a:lnTo>
                <a:lnTo>
                  <a:pt x="114" y="242976"/>
                </a:lnTo>
                <a:lnTo>
                  <a:pt x="0" y="241299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46748" y="52933"/>
                </a:moveTo>
                <a:cubicBezTo>
                  <a:pt x="143946" y="51064"/>
                  <a:pt x="140516" y="50384"/>
                  <a:pt x="137212" y="51044"/>
                </a:cubicBezTo>
                <a:cubicBezTo>
                  <a:pt x="133908" y="51703"/>
                  <a:pt x="131002" y="53649"/>
                  <a:pt x="129133" y="56451"/>
                </a:cubicBezTo>
                <a:lnTo>
                  <a:pt x="101600" y="97752"/>
                </a:lnTo>
                <a:lnTo>
                  <a:pt x="74066" y="56451"/>
                </a:lnTo>
                <a:cubicBezTo>
                  <a:pt x="70173" y="50616"/>
                  <a:pt x="62287" y="49041"/>
                  <a:pt x="56451" y="52933"/>
                </a:cubicBezTo>
                <a:cubicBezTo>
                  <a:pt x="50616" y="56826"/>
                  <a:pt x="49041" y="64713"/>
                  <a:pt x="52933" y="70548"/>
                </a:cubicBezTo>
                <a:lnTo>
                  <a:pt x="82105" y="114300"/>
                </a:lnTo>
                <a:lnTo>
                  <a:pt x="63500" y="114300"/>
                </a:lnTo>
                <a:cubicBezTo>
                  <a:pt x="56486" y="114300"/>
                  <a:pt x="50800" y="119986"/>
                  <a:pt x="50800" y="127000"/>
                </a:cubicBezTo>
                <a:cubicBezTo>
                  <a:pt x="50800" y="134014"/>
                  <a:pt x="56486" y="139700"/>
                  <a:pt x="63500" y="139700"/>
                </a:cubicBezTo>
                <a:lnTo>
                  <a:pt x="88900" y="139700"/>
                </a:lnTo>
                <a:lnTo>
                  <a:pt x="88900" y="177800"/>
                </a:lnTo>
                <a:cubicBezTo>
                  <a:pt x="88900" y="184814"/>
                  <a:pt x="94586" y="190500"/>
                  <a:pt x="101600" y="190500"/>
                </a:cubicBezTo>
                <a:lnTo>
                  <a:pt x="103086" y="190411"/>
                </a:lnTo>
                <a:cubicBezTo>
                  <a:pt x="109480" y="189657"/>
                  <a:pt x="114299" y="184238"/>
                  <a:pt x="114300" y="177800"/>
                </a:cubicBezTo>
                <a:lnTo>
                  <a:pt x="114300" y="139700"/>
                </a:lnTo>
                <a:lnTo>
                  <a:pt x="139700" y="139700"/>
                </a:lnTo>
                <a:cubicBezTo>
                  <a:pt x="146714" y="139700"/>
                  <a:pt x="152400" y="134014"/>
                  <a:pt x="152400" y="127000"/>
                </a:cubicBezTo>
                <a:cubicBezTo>
                  <a:pt x="152400" y="119986"/>
                  <a:pt x="146714" y="114300"/>
                  <a:pt x="139700" y="114300"/>
                </a:cubicBezTo>
                <a:lnTo>
                  <a:pt x="121094" y="114300"/>
                </a:lnTo>
                <a:lnTo>
                  <a:pt x="150266" y="70548"/>
                </a:lnTo>
                <a:cubicBezTo>
                  <a:pt x="152136" y="67746"/>
                  <a:pt x="152816" y="64316"/>
                  <a:pt x="152156" y="61012"/>
                </a:cubicBezTo>
                <a:cubicBezTo>
                  <a:pt x="151496" y="57709"/>
                  <a:pt x="149551" y="54803"/>
                  <a:pt x="146748" y="5293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054742" y="23774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生成订单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20681" y="27308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写入本地订单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" y="3905250"/>
            <a:ext cx="10439400" cy="139065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246632" y="415480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对合作方的价值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8537" y="4671536"/>
            <a:ext cx="593912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1. 招商现场可直接模拟购买，降低“只有产品图”的抽象感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63487" y="4671536"/>
            <a:ext cx="498702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2. 真实下单后后台同步出现，便于演示经营闭环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5785" y="6298406"/>
            <a:ext cx="4780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index.html、script.js、auth.js 与 localStorage 订单结构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5117" y="394811"/>
            <a:ext cx="10608648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管理后台把招商演示从“产品展示”推进到“经营展示”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880" y="942975"/>
            <a:ext cx="5871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前台订单和后台新品统一进入本地数据层，形成可复盘的演示沙盘</a:t>
            </a:r>
          </a:p>
        </p:txBody>
      </p:sp>
      <p:sp>
        <p:nvSpPr>
          <p:cNvPr id="5" name="Rectangle 5"/>
          <p:cNvSpPr/>
          <p:nvPr/>
        </p:nvSpPr>
        <p:spPr>
          <a:xfrm>
            <a:off x="723900" y="1581150"/>
            <a:ext cx="723900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14400" y="1771650"/>
            <a:ext cx="704850" cy="647700"/>
          </a:xfrm>
          <a:prstGeom prst="roundRect">
            <a:avLst>
              <a:gd name="adj" fmla="val 20588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138238" y="1952625"/>
            <a:ext cx="257378" cy="288870"/>
          </a:xfrm>
          <a:custGeom>
            <a:avLst/>
            <a:gdLst/>
            <a:ahLst/>
            <a:cxnLst/>
            <a:rect l="l" t="t" r="r" b="b"/>
            <a:pathLst>
              <a:path w="257378" h="288870">
                <a:moveTo>
                  <a:pt x="42862" y="0"/>
                </a:moveTo>
                <a:cubicBezTo>
                  <a:pt x="50106" y="1"/>
                  <a:pt x="56203" y="5422"/>
                  <a:pt x="57050" y="12616"/>
                </a:cubicBezTo>
                <a:lnTo>
                  <a:pt x="57150" y="14288"/>
                </a:lnTo>
                <a:lnTo>
                  <a:pt x="57150" y="29547"/>
                </a:lnTo>
                <a:lnTo>
                  <a:pt x="243902" y="42905"/>
                </a:lnTo>
                <a:cubicBezTo>
                  <a:pt x="251528" y="43445"/>
                  <a:pt x="257378" y="49893"/>
                  <a:pt x="257175" y="57536"/>
                </a:cubicBezTo>
                <a:lnTo>
                  <a:pt x="257032" y="59165"/>
                </a:lnTo>
                <a:lnTo>
                  <a:pt x="242745" y="159177"/>
                </a:lnTo>
                <a:cubicBezTo>
                  <a:pt x="241830" y="165619"/>
                  <a:pt x="236679" y="170629"/>
                  <a:pt x="230214" y="171364"/>
                </a:cubicBezTo>
                <a:lnTo>
                  <a:pt x="228600" y="171450"/>
                </a:lnTo>
                <a:lnTo>
                  <a:pt x="57150" y="171450"/>
                </a:lnTo>
                <a:lnTo>
                  <a:pt x="57150" y="200025"/>
                </a:lnTo>
                <a:lnTo>
                  <a:pt x="200025" y="200025"/>
                </a:lnTo>
                <a:cubicBezTo>
                  <a:pt x="223370" y="200026"/>
                  <a:pt x="242421" y="218710"/>
                  <a:pt x="242877" y="242050"/>
                </a:cubicBezTo>
                <a:cubicBezTo>
                  <a:pt x="243333" y="265391"/>
                  <a:pt x="225026" y="284804"/>
                  <a:pt x="201699" y="285717"/>
                </a:cubicBezTo>
                <a:cubicBezTo>
                  <a:pt x="178371" y="286630"/>
                  <a:pt x="158604" y="268707"/>
                  <a:pt x="157234" y="245402"/>
                </a:cubicBezTo>
                <a:lnTo>
                  <a:pt x="157162" y="242888"/>
                </a:lnTo>
                <a:lnTo>
                  <a:pt x="157234" y="240373"/>
                </a:lnTo>
                <a:cubicBezTo>
                  <a:pt x="157477" y="236258"/>
                  <a:pt x="158291" y="232315"/>
                  <a:pt x="159606" y="228600"/>
                </a:cubicBezTo>
                <a:lnTo>
                  <a:pt x="83282" y="228600"/>
                </a:lnTo>
                <a:cubicBezTo>
                  <a:pt x="88851" y="244396"/>
                  <a:pt x="84709" y="261988"/>
                  <a:pt x="72678" y="273641"/>
                </a:cubicBezTo>
                <a:cubicBezTo>
                  <a:pt x="60647" y="285293"/>
                  <a:pt x="42931" y="288870"/>
                  <a:pt x="27321" y="282799"/>
                </a:cubicBezTo>
                <a:cubicBezTo>
                  <a:pt x="11712" y="276728"/>
                  <a:pt x="1068" y="262121"/>
                  <a:pt x="71" y="245402"/>
                </a:cubicBezTo>
                <a:lnTo>
                  <a:pt x="0" y="242888"/>
                </a:lnTo>
                <a:lnTo>
                  <a:pt x="71" y="240373"/>
                </a:lnTo>
                <a:cubicBezTo>
                  <a:pt x="1082" y="223151"/>
                  <a:pt x="12313" y="208211"/>
                  <a:pt x="28575" y="202454"/>
                </a:cubicBezTo>
                <a:lnTo>
                  <a:pt x="28575" y="28575"/>
                </a:lnTo>
                <a:lnTo>
                  <a:pt x="14288" y="28575"/>
                </a:lnTo>
                <a:cubicBezTo>
                  <a:pt x="7044" y="28574"/>
                  <a:pt x="947" y="23153"/>
                  <a:pt x="100" y="15959"/>
                </a:cubicBezTo>
                <a:lnTo>
                  <a:pt x="0" y="14288"/>
                </a:lnTo>
                <a:cubicBezTo>
                  <a:pt x="1" y="7044"/>
                  <a:pt x="5422" y="947"/>
                  <a:pt x="12616" y="100"/>
                </a:cubicBezTo>
                <a:lnTo>
                  <a:pt x="14288" y="0"/>
                </a:lnTo>
                <a:lnTo>
                  <a:pt x="42862" y="0"/>
                </a:lnTo>
                <a:close/>
                <a:moveTo>
                  <a:pt x="42862" y="228600"/>
                </a:moveTo>
                <a:cubicBezTo>
                  <a:pt x="34972" y="228600"/>
                  <a:pt x="28575" y="234997"/>
                  <a:pt x="28575" y="242888"/>
                </a:cubicBezTo>
                <a:cubicBezTo>
                  <a:pt x="28575" y="250778"/>
                  <a:pt x="34972" y="257175"/>
                  <a:pt x="42862" y="257175"/>
                </a:cubicBezTo>
                <a:cubicBezTo>
                  <a:pt x="50753" y="257175"/>
                  <a:pt x="57150" y="250778"/>
                  <a:pt x="57150" y="242888"/>
                </a:cubicBezTo>
                <a:cubicBezTo>
                  <a:pt x="57150" y="234997"/>
                  <a:pt x="50753" y="228600"/>
                  <a:pt x="42862" y="228600"/>
                </a:cubicBezTo>
                <a:moveTo>
                  <a:pt x="200025" y="228600"/>
                </a:moveTo>
                <a:cubicBezTo>
                  <a:pt x="192134" y="228600"/>
                  <a:pt x="185738" y="234997"/>
                  <a:pt x="185738" y="242888"/>
                </a:cubicBezTo>
                <a:cubicBezTo>
                  <a:pt x="185738" y="250778"/>
                  <a:pt x="192134" y="257175"/>
                  <a:pt x="200025" y="257175"/>
                </a:cubicBezTo>
                <a:cubicBezTo>
                  <a:pt x="207916" y="257175"/>
                  <a:pt x="214312" y="250778"/>
                  <a:pt x="214312" y="242888"/>
                </a:cubicBezTo>
                <a:cubicBezTo>
                  <a:pt x="214312" y="234997"/>
                  <a:pt x="207916" y="228600"/>
                  <a:pt x="200025" y="228600"/>
                </a:cubicBezTo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76044" y="18278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前台交易层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8711" y="2208371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商品浏览、购物车、地址确认、下单成功提示订单号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23900" y="2914650"/>
            <a:ext cx="723900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14400" y="3105150"/>
            <a:ext cx="704850" cy="647700"/>
          </a:xfrm>
          <a:prstGeom prst="roundRect">
            <a:avLst>
              <a:gd name="adj" fmla="val 20588"/>
            </a:avLst>
          </a:prstGeom>
          <a:solidFill>
            <a:srgbClr val="EEF4EC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1129865" y="3306165"/>
            <a:ext cx="265547" cy="238526"/>
            <a:chOff x="1129865" y="3306165"/>
            <a:chExt cx="265547" cy="238526"/>
          </a:xfrm>
        </p:grpSpPr>
        <p:sp>
          <p:nvSpPr>
            <p:cNvPr id="12" name="Freeform 12"/>
            <p:cNvSpPr/>
            <p:nvPr/>
          </p:nvSpPr>
          <p:spPr>
            <a:xfrm>
              <a:off x="1129865" y="3306165"/>
              <a:ext cx="88345" cy="67076"/>
            </a:xfrm>
            <a:custGeom>
              <a:avLst/>
              <a:gdLst/>
              <a:ahLst/>
              <a:cxnLst/>
              <a:rect l="l" t="t" r="r" b="b"/>
              <a:pathLst>
                <a:path w="88345" h="67076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29865" y="3391890"/>
              <a:ext cx="88345" cy="67076"/>
            </a:xfrm>
            <a:custGeom>
              <a:avLst/>
              <a:gdLst/>
              <a:ahLst/>
              <a:cxnLst/>
              <a:rect l="l" t="t" r="r" b="b"/>
              <a:pathLst>
                <a:path w="88345" h="67076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129865" y="3477615"/>
              <a:ext cx="88345" cy="67076"/>
            </a:xfrm>
            <a:custGeom>
              <a:avLst/>
              <a:gdLst/>
              <a:ahLst/>
              <a:cxnLst/>
              <a:rect l="l" t="t" r="r" b="b"/>
              <a:pathLst>
                <a:path w="88345" h="67076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38250" y="3328988"/>
              <a:ext cx="157162" cy="28575"/>
            </a:xfrm>
            <a:custGeom>
              <a:avLst/>
              <a:gdLst/>
              <a:ahLst/>
              <a:cxnLst/>
              <a:rect l="l" t="t" r="r" b="b"/>
              <a:pathLst>
                <a:path w="157162" h="28575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38250" y="3414712"/>
              <a:ext cx="157162" cy="28575"/>
            </a:xfrm>
            <a:custGeom>
              <a:avLst/>
              <a:gdLst/>
              <a:ahLst/>
              <a:cxnLst/>
              <a:rect l="l" t="t" r="r" b="b"/>
              <a:pathLst>
                <a:path w="157162" h="28575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38250" y="3500438"/>
              <a:ext cx="157162" cy="28575"/>
            </a:xfrm>
            <a:custGeom>
              <a:avLst/>
              <a:gdLst/>
              <a:ahLst/>
              <a:cxnLst/>
              <a:rect l="l" t="t" r="r" b="b"/>
              <a:pathLst>
                <a:path w="157162" h="28575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D6A756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876044" y="31613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本地数据层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78711" y="3541871"/>
            <a:ext cx="627127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pawNaturalOrders 保存真实订单，pawNaturalProducts 保存后台新品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" y="4248150"/>
            <a:ext cx="723900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14400" y="4438650"/>
            <a:ext cx="704850" cy="647700"/>
          </a:xfrm>
          <a:prstGeom prst="roundRect">
            <a:avLst>
              <a:gd name="adj" fmla="val 20588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11900" y="4633252"/>
            <a:ext cx="309851" cy="257835"/>
          </a:xfrm>
          <a:custGeom>
            <a:avLst/>
            <a:gdLst/>
            <a:ahLst/>
            <a:cxnLst/>
            <a:rect l="l" t="t" r="r" b="b"/>
            <a:pathLst>
              <a:path w="309851" h="257835">
                <a:moveTo>
                  <a:pt x="154925" y="3"/>
                </a:moveTo>
                <a:cubicBezTo>
                  <a:pt x="215690" y="0"/>
                  <a:pt x="269808" y="38431"/>
                  <a:pt x="289829" y="95802"/>
                </a:cubicBezTo>
                <a:cubicBezTo>
                  <a:pt x="309851" y="153173"/>
                  <a:pt x="291395" y="216931"/>
                  <a:pt x="243822" y="254735"/>
                </a:cubicBezTo>
                <a:cubicBezTo>
                  <a:pt x="241295" y="256743"/>
                  <a:pt x="238163" y="257835"/>
                  <a:pt x="234935" y="257835"/>
                </a:cubicBezTo>
                <a:lnTo>
                  <a:pt x="74915" y="257835"/>
                </a:lnTo>
                <a:cubicBezTo>
                  <a:pt x="71688" y="257835"/>
                  <a:pt x="68556" y="256743"/>
                  <a:pt x="66029" y="254735"/>
                </a:cubicBezTo>
                <a:cubicBezTo>
                  <a:pt x="18456" y="216931"/>
                  <a:pt x="0" y="153173"/>
                  <a:pt x="20021" y="95802"/>
                </a:cubicBezTo>
                <a:cubicBezTo>
                  <a:pt x="40043" y="38431"/>
                  <a:pt x="94161" y="0"/>
                  <a:pt x="154925" y="3"/>
                </a:cubicBezTo>
                <a:moveTo>
                  <a:pt x="215033" y="83428"/>
                </a:moveTo>
                <a:cubicBezTo>
                  <a:pt x="209454" y="77850"/>
                  <a:pt x="200410" y="77850"/>
                  <a:pt x="194830" y="83428"/>
                </a:cubicBezTo>
                <a:lnTo>
                  <a:pt x="162312" y="115918"/>
                </a:lnTo>
                <a:cubicBezTo>
                  <a:pt x="154016" y="113712"/>
                  <a:pt x="145168" y="115347"/>
                  <a:pt x="138208" y="120372"/>
                </a:cubicBezTo>
                <a:cubicBezTo>
                  <a:pt x="131248" y="125397"/>
                  <a:pt x="126911" y="133281"/>
                  <a:pt x="126393" y="141849"/>
                </a:cubicBezTo>
                <a:lnTo>
                  <a:pt x="126350" y="143535"/>
                </a:lnTo>
                <a:cubicBezTo>
                  <a:pt x="126371" y="154626"/>
                  <a:pt x="132807" y="164704"/>
                  <a:pt x="142862" y="169386"/>
                </a:cubicBezTo>
                <a:cubicBezTo>
                  <a:pt x="152916" y="174069"/>
                  <a:pt x="164771" y="172510"/>
                  <a:pt x="173274" y="165389"/>
                </a:cubicBezTo>
                <a:cubicBezTo>
                  <a:pt x="181776" y="158267"/>
                  <a:pt x="185390" y="146868"/>
                  <a:pt x="182543" y="136149"/>
                </a:cubicBezTo>
                <a:lnTo>
                  <a:pt x="215033" y="103630"/>
                </a:lnTo>
                <a:cubicBezTo>
                  <a:pt x="220611" y="98051"/>
                  <a:pt x="220611" y="89007"/>
                  <a:pt x="215033" y="83428"/>
                </a:cubicBezTo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876044" y="44948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后台经营层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78711" y="4875371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订单列表、营业额、订单数、售出件数、销量排行、新品上架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420100" y="1562100"/>
            <a:ext cx="3048000" cy="3733800"/>
          </a:xfrm>
          <a:prstGeom prst="roundRect">
            <a:avLst>
              <a:gd name="adj" fmla="val 6875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772144" y="1789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后台看板快照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782050" y="2324100"/>
            <a:ext cx="10096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985504" y="24803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营业额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82075" y="2712244"/>
            <a:ext cx="60212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¥12k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077450" y="2324100"/>
            <a:ext cx="10096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280904" y="24803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订单数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77475" y="2712244"/>
            <a:ext cx="3105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782050" y="3390900"/>
            <a:ext cx="230505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22080" y="35528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销量排行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029700" y="3924300"/>
            <a:ext cx="1619250" cy="114300"/>
          </a:xfrm>
          <a:prstGeom prst="roundRect">
            <a:avLst>
              <a:gd name="adj" fmla="val 50000"/>
            </a:avLst>
          </a:prstGeom>
          <a:solidFill>
            <a:srgbClr val="8EB69B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9029700" y="4210050"/>
            <a:ext cx="1276350" cy="114300"/>
          </a:xfrm>
          <a:prstGeom prst="roundRect">
            <a:avLst>
              <a:gd name="adj" fmla="val 50000"/>
            </a:avLst>
          </a:prstGeom>
          <a:solidFill>
            <a:srgbClr val="D6A756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9029700" y="4495800"/>
            <a:ext cx="933450" cy="114300"/>
          </a:xfrm>
          <a:prstGeom prst="roundRect">
            <a:avLst>
              <a:gd name="adj" fmla="val 50000"/>
            </a:avLst>
          </a:prstGeom>
          <a:solidFill>
            <a:srgbClr val="8EB69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5785" y="6298406"/>
            <a:ext cx="37314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admin.html、admin.js 与本地订单/商品接口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4736" y="386715"/>
            <a:ext cx="74968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四类渠道都能找到自己的合作切入点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880" y="942975"/>
            <a:ext cx="60731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同一套商品与演示系统，可以对应不同渠道的转化方式和经营关注点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647700" y="1581150"/>
            <a:ext cx="2552700" cy="3981450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47700" y="1581150"/>
            <a:ext cx="2724150" cy="1085850"/>
          </a:xfrm>
          <a:custGeom>
            <a:avLst/>
            <a:gdLst/>
            <a:ahLst/>
            <a:cxnLst/>
            <a:rect l="l" t="t" r="r" b="b"/>
            <a:pathLst>
              <a:path w="2724150" h="1085850">
                <a:moveTo>
                  <a:pt x="0" y="0"/>
                </a:moveTo>
                <a:lnTo>
                  <a:pt x="2552700" y="0"/>
                </a:lnTo>
                <a:cubicBezTo>
                  <a:pt x="2647389" y="0"/>
                  <a:pt x="2724150" y="76761"/>
                  <a:pt x="2724150" y="171450"/>
                </a:cubicBezTo>
                <a:lnTo>
                  <a:pt x="27241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EEF4EC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710514" y="1928808"/>
            <a:ext cx="427073" cy="371480"/>
            <a:chOff x="1710514" y="1928808"/>
            <a:chExt cx="427073" cy="371480"/>
          </a:xfrm>
        </p:grpSpPr>
        <p:sp>
          <p:nvSpPr>
            <p:cNvPr id="7" name="Freeform 7"/>
            <p:cNvSpPr/>
            <p:nvPr/>
          </p:nvSpPr>
          <p:spPr>
            <a:xfrm>
              <a:off x="1773334" y="2073275"/>
              <a:ext cx="301370" cy="227013"/>
            </a:xfrm>
            <a:custGeom>
              <a:avLst/>
              <a:gdLst/>
              <a:ahLst/>
              <a:cxnLst/>
              <a:rect l="l" t="t" r="r" b="b"/>
              <a:pathLst>
                <a:path w="301370" h="227013">
                  <a:moveTo>
                    <a:pt x="150716" y="0"/>
                  </a:moveTo>
                  <a:cubicBezTo>
                    <a:pt x="123474" y="0"/>
                    <a:pt x="109792" y="8688"/>
                    <a:pt x="90227" y="39707"/>
                  </a:cubicBezTo>
                  <a:lnTo>
                    <a:pt x="85192" y="47920"/>
                  </a:lnTo>
                  <a:lnTo>
                    <a:pt x="77040" y="62119"/>
                  </a:lnTo>
                  <a:cubicBezTo>
                    <a:pt x="76065" y="63864"/>
                    <a:pt x="75095" y="65611"/>
                    <a:pt x="74130" y="67361"/>
                  </a:cubicBezTo>
                  <a:cubicBezTo>
                    <a:pt x="69177" y="76318"/>
                    <a:pt x="62346" y="82901"/>
                    <a:pt x="50624" y="90929"/>
                  </a:cubicBezTo>
                  <a:lnTo>
                    <a:pt x="39273" y="98462"/>
                  </a:lnTo>
                  <a:cubicBezTo>
                    <a:pt x="19874" y="111401"/>
                    <a:pt x="9720" y="121534"/>
                    <a:pt x="4045" y="138808"/>
                  </a:cubicBezTo>
                  <a:cubicBezTo>
                    <a:pt x="1486" y="145784"/>
                    <a:pt x="0" y="156412"/>
                    <a:pt x="62" y="165224"/>
                  </a:cubicBezTo>
                  <a:cubicBezTo>
                    <a:pt x="62" y="200040"/>
                    <a:pt x="24786" y="227013"/>
                    <a:pt x="57847" y="227013"/>
                  </a:cubicBezTo>
                  <a:lnTo>
                    <a:pt x="62841" y="226889"/>
                  </a:lnTo>
                  <a:cubicBezTo>
                    <a:pt x="65297" y="226765"/>
                    <a:pt x="67670" y="226538"/>
                    <a:pt x="70147" y="226187"/>
                  </a:cubicBezTo>
                  <a:lnTo>
                    <a:pt x="75265" y="225300"/>
                  </a:lnTo>
                  <a:lnTo>
                    <a:pt x="77989" y="224722"/>
                  </a:lnTo>
                  <a:lnTo>
                    <a:pt x="83995" y="223216"/>
                  </a:lnTo>
                  <a:lnTo>
                    <a:pt x="87338" y="222287"/>
                  </a:lnTo>
                  <a:lnTo>
                    <a:pt x="99101" y="218778"/>
                  </a:lnTo>
                  <a:lnTo>
                    <a:pt x="114848" y="213764"/>
                  </a:lnTo>
                  <a:lnTo>
                    <a:pt x="124238" y="210957"/>
                  </a:lnTo>
                  <a:cubicBezTo>
                    <a:pt x="135176" y="207861"/>
                    <a:pt x="143637" y="206375"/>
                    <a:pt x="150716" y="206375"/>
                  </a:cubicBezTo>
                  <a:cubicBezTo>
                    <a:pt x="157815" y="206375"/>
                    <a:pt x="166256" y="207882"/>
                    <a:pt x="177194" y="210957"/>
                  </a:cubicBezTo>
                  <a:lnTo>
                    <a:pt x="186584" y="213764"/>
                  </a:lnTo>
                  <a:lnTo>
                    <a:pt x="202351" y="218758"/>
                  </a:lnTo>
                  <a:lnTo>
                    <a:pt x="214094" y="222287"/>
                  </a:lnTo>
                  <a:lnTo>
                    <a:pt x="220533" y="224020"/>
                  </a:lnTo>
                  <a:cubicBezTo>
                    <a:pt x="222535" y="224516"/>
                    <a:pt x="224392" y="224949"/>
                    <a:pt x="226167" y="225300"/>
                  </a:cubicBezTo>
                  <a:lnTo>
                    <a:pt x="231285" y="226187"/>
                  </a:lnTo>
                  <a:cubicBezTo>
                    <a:pt x="233761" y="226538"/>
                    <a:pt x="236135" y="226765"/>
                    <a:pt x="238591" y="226889"/>
                  </a:cubicBezTo>
                  <a:lnTo>
                    <a:pt x="243585" y="227013"/>
                  </a:lnTo>
                  <a:cubicBezTo>
                    <a:pt x="276646" y="227013"/>
                    <a:pt x="301370" y="200040"/>
                    <a:pt x="301370" y="165100"/>
                  </a:cubicBezTo>
                  <a:cubicBezTo>
                    <a:pt x="301370" y="156288"/>
                    <a:pt x="299863" y="145722"/>
                    <a:pt x="297098" y="138148"/>
                  </a:cubicBezTo>
                  <a:cubicBezTo>
                    <a:pt x="292227" y="123206"/>
                    <a:pt x="283126" y="112908"/>
                    <a:pt x="266554" y="100381"/>
                  </a:cubicBezTo>
                  <a:lnTo>
                    <a:pt x="261251" y="96460"/>
                  </a:lnTo>
                  <a:lnTo>
                    <a:pt x="250354" y="88618"/>
                  </a:lnTo>
                  <a:cubicBezTo>
                    <a:pt x="237105" y="78918"/>
                    <a:pt x="229654" y="71571"/>
                    <a:pt x="224495" y="62243"/>
                  </a:cubicBezTo>
                  <a:lnTo>
                    <a:pt x="218923" y="52234"/>
                  </a:lnTo>
                  <a:lnTo>
                    <a:pt x="213722" y="43318"/>
                  </a:lnTo>
                  <a:cubicBezTo>
                    <a:pt x="192858" y="8317"/>
                    <a:pt x="180331" y="0"/>
                    <a:pt x="150716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009737" y="2011361"/>
              <a:ext cx="127850" cy="144464"/>
            </a:xfrm>
            <a:custGeom>
              <a:avLst/>
              <a:gdLst/>
              <a:ahLst/>
              <a:cxnLst/>
              <a:rect l="l" t="t" r="r" b="b"/>
              <a:pathLst>
                <a:path w="127850" h="144464">
                  <a:moveTo>
                    <a:pt x="74873" y="2"/>
                  </a:moveTo>
                  <a:lnTo>
                    <a:pt x="74254" y="2"/>
                  </a:lnTo>
                  <a:cubicBezTo>
                    <a:pt x="49097" y="414"/>
                    <a:pt x="25756" y="22001"/>
                    <a:pt x="14240" y="51678"/>
                  </a:cubicBezTo>
                  <a:cubicBezTo>
                    <a:pt x="0" y="88310"/>
                    <a:pt x="7058" y="128450"/>
                    <a:pt x="36425" y="141100"/>
                  </a:cubicBezTo>
                  <a:cubicBezTo>
                    <a:pt x="41708" y="143350"/>
                    <a:pt x="47301" y="144464"/>
                    <a:pt x="52956" y="144464"/>
                  </a:cubicBezTo>
                  <a:cubicBezTo>
                    <a:pt x="78361" y="144464"/>
                    <a:pt x="102073" y="122733"/>
                    <a:pt x="113692" y="92788"/>
                  </a:cubicBezTo>
                  <a:cubicBezTo>
                    <a:pt x="127850" y="56177"/>
                    <a:pt x="120709" y="16016"/>
                    <a:pt x="91486" y="3386"/>
                  </a:cubicBezTo>
                  <a:cubicBezTo>
                    <a:pt x="86240" y="1151"/>
                    <a:pt x="80596" y="0"/>
                    <a:pt x="74894" y="2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05694" y="1928813"/>
              <a:ext cx="123185" cy="144463"/>
            </a:xfrm>
            <a:custGeom>
              <a:avLst/>
              <a:gdLst/>
              <a:ahLst/>
              <a:cxnLst/>
              <a:rect l="l" t="t" r="r" b="b"/>
              <a:pathLst>
                <a:path w="123185" h="144463">
                  <a:moveTo>
                    <a:pt x="56960" y="0"/>
                  </a:moveTo>
                  <a:cubicBezTo>
                    <a:pt x="54648" y="0"/>
                    <a:pt x="53142" y="41"/>
                    <a:pt x="51387" y="310"/>
                  </a:cubicBezTo>
                  <a:lnTo>
                    <a:pt x="49468" y="640"/>
                  </a:lnTo>
                  <a:cubicBezTo>
                    <a:pt x="17851" y="4891"/>
                    <a:pt x="0" y="41688"/>
                    <a:pt x="5964" y="80197"/>
                  </a:cubicBezTo>
                  <a:cubicBezTo>
                    <a:pt x="11578" y="115797"/>
                    <a:pt x="36136" y="144463"/>
                    <a:pt x="66226" y="144463"/>
                  </a:cubicBezTo>
                  <a:lnTo>
                    <a:pt x="70085" y="144360"/>
                  </a:lnTo>
                  <a:cubicBezTo>
                    <a:pt x="70665" y="144310"/>
                    <a:pt x="71243" y="144241"/>
                    <a:pt x="71819" y="144153"/>
                  </a:cubicBezTo>
                  <a:lnTo>
                    <a:pt x="73717" y="143823"/>
                  </a:lnTo>
                  <a:cubicBezTo>
                    <a:pt x="105355" y="139572"/>
                    <a:pt x="123185" y="102775"/>
                    <a:pt x="117221" y="64265"/>
                  </a:cubicBezTo>
                  <a:cubicBezTo>
                    <a:pt x="111649" y="28624"/>
                    <a:pt x="87090" y="0"/>
                    <a:pt x="56960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919221" y="1928808"/>
              <a:ext cx="123165" cy="144468"/>
            </a:xfrm>
            <a:custGeom>
              <a:avLst/>
              <a:gdLst/>
              <a:ahLst/>
              <a:cxnLst/>
              <a:rect l="l" t="t" r="r" b="b"/>
              <a:pathLst>
                <a:path w="123165" h="144468">
                  <a:moveTo>
                    <a:pt x="66164" y="5"/>
                  </a:moveTo>
                  <a:cubicBezTo>
                    <a:pt x="36054" y="5"/>
                    <a:pt x="11536" y="28650"/>
                    <a:pt x="5985" y="64250"/>
                  </a:cubicBezTo>
                  <a:cubicBezTo>
                    <a:pt x="0" y="102780"/>
                    <a:pt x="17831" y="139577"/>
                    <a:pt x="50851" y="144055"/>
                  </a:cubicBezTo>
                  <a:cubicBezTo>
                    <a:pt x="52977" y="144323"/>
                    <a:pt x="54978" y="144468"/>
                    <a:pt x="56960" y="144468"/>
                  </a:cubicBezTo>
                  <a:cubicBezTo>
                    <a:pt x="85646" y="144468"/>
                    <a:pt x="109441" y="118361"/>
                    <a:pt x="116334" y="84970"/>
                  </a:cubicBezTo>
                  <a:lnTo>
                    <a:pt x="117180" y="80223"/>
                  </a:lnTo>
                  <a:cubicBezTo>
                    <a:pt x="123165" y="41693"/>
                    <a:pt x="105334" y="4896"/>
                    <a:pt x="72314" y="418"/>
                  </a:cubicBezTo>
                  <a:cubicBezTo>
                    <a:pt x="70276" y="138"/>
                    <a:pt x="68221" y="0"/>
                    <a:pt x="66164" y="5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10514" y="2011363"/>
              <a:ext cx="127829" cy="144463"/>
            </a:xfrm>
            <a:custGeom>
              <a:avLst/>
              <a:gdLst/>
              <a:ahLst/>
              <a:cxnLst/>
              <a:rect l="l" t="t" r="r" b="b"/>
              <a:pathLst>
                <a:path w="127829" h="144463">
                  <a:moveTo>
                    <a:pt x="52915" y="0"/>
                  </a:moveTo>
                  <a:cubicBezTo>
                    <a:pt x="47260" y="0"/>
                    <a:pt x="41688" y="1114"/>
                    <a:pt x="36467" y="3323"/>
                  </a:cubicBezTo>
                  <a:cubicBezTo>
                    <a:pt x="7037" y="16015"/>
                    <a:pt x="0" y="56196"/>
                    <a:pt x="14219" y="92786"/>
                  </a:cubicBezTo>
                  <a:cubicBezTo>
                    <a:pt x="25838" y="122731"/>
                    <a:pt x="49509" y="144463"/>
                    <a:pt x="74914" y="144463"/>
                  </a:cubicBezTo>
                  <a:cubicBezTo>
                    <a:pt x="80569" y="144463"/>
                    <a:pt x="86141" y="143348"/>
                    <a:pt x="91362" y="141140"/>
                  </a:cubicBezTo>
                  <a:cubicBezTo>
                    <a:pt x="120791" y="128448"/>
                    <a:pt x="127829" y="88267"/>
                    <a:pt x="113610" y="51676"/>
                  </a:cubicBezTo>
                  <a:cubicBezTo>
                    <a:pt x="101991" y="21731"/>
                    <a:pt x="78319" y="0"/>
                    <a:pt x="52915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384459" y="2521744"/>
            <a:ext cx="107918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宠物门店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2599" y="3106579"/>
            <a:ext cx="68388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切入点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361" y="3484721"/>
            <a:ext cx="1932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常备陈列、搭配主粮、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3361" y="3789521"/>
            <a:ext cx="1740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复购提醒和会员推荐</a:t>
            </a:r>
          </a:p>
        </p:txBody>
      </p:sp>
      <p:sp>
        <p:nvSpPr>
          <p:cNvPr id="17" name="Line 17"/>
          <p:cNvSpPr/>
          <p:nvPr/>
        </p:nvSpPr>
        <p:spPr>
          <a:xfrm>
            <a:off x="990600" y="432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82599" y="4573429"/>
            <a:ext cx="46125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看重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3361" y="4951571"/>
            <a:ext cx="1740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货架动销与会员复购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448050" y="1581150"/>
            <a:ext cx="2552700" cy="3981450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3448050" y="1581150"/>
            <a:ext cx="2724150" cy="1085850"/>
          </a:xfrm>
          <a:custGeom>
            <a:avLst/>
            <a:gdLst/>
            <a:ahLst/>
            <a:cxnLst/>
            <a:rect l="l" t="t" r="r" b="b"/>
            <a:pathLst>
              <a:path w="2724150" h="1085850">
                <a:moveTo>
                  <a:pt x="0" y="0"/>
                </a:moveTo>
                <a:lnTo>
                  <a:pt x="2552700" y="0"/>
                </a:lnTo>
                <a:cubicBezTo>
                  <a:pt x="2647389" y="0"/>
                  <a:pt x="2724150" y="76761"/>
                  <a:pt x="2724150" y="171450"/>
                </a:cubicBezTo>
                <a:lnTo>
                  <a:pt x="27241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EEF4EC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4518025" y="1949450"/>
            <a:ext cx="412751" cy="330193"/>
          </a:xfrm>
          <a:custGeom>
            <a:avLst/>
            <a:gdLst/>
            <a:ahLst/>
            <a:cxnLst/>
            <a:rect l="l" t="t" r="r" b="b"/>
            <a:pathLst>
              <a:path w="412751" h="330193">
                <a:moveTo>
                  <a:pt x="227013" y="0"/>
                </a:moveTo>
                <a:cubicBezTo>
                  <a:pt x="238411" y="0"/>
                  <a:pt x="247650" y="9240"/>
                  <a:pt x="247650" y="20638"/>
                </a:cubicBezTo>
                <a:lnTo>
                  <a:pt x="330201" y="20638"/>
                </a:lnTo>
                <a:cubicBezTo>
                  <a:pt x="336495" y="20638"/>
                  <a:pt x="342445" y="23510"/>
                  <a:pt x="346360" y="28439"/>
                </a:cubicBezTo>
                <a:lnTo>
                  <a:pt x="347887" y="30667"/>
                </a:lnTo>
                <a:lnTo>
                  <a:pt x="409799" y="133855"/>
                </a:lnTo>
                <a:lnTo>
                  <a:pt x="410935" y="135981"/>
                </a:lnTo>
                <a:lnTo>
                  <a:pt x="411760" y="138189"/>
                </a:lnTo>
                <a:lnTo>
                  <a:pt x="412359" y="140438"/>
                </a:lnTo>
                <a:lnTo>
                  <a:pt x="412689" y="142709"/>
                </a:lnTo>
                <a:lnTo>
                  <a:pt x="412751" y="144463"/>
                </a:lnTo>
                <a:lnTo>
                  <a:pt x="412751" y="268288"/>
                </a:lnTo>
                <a:cubicBezTo>
                  <a:pt x="412751" y="279686"/>
                  <a:pt x="403511" y="288925"/>
                  <a:pt x="392113" y="288925"/>
                </a:cubicBezTo>
                <a:lnTo>
                  <a:pt x="367947" y="288925"/>
                </a:lnTo>
                <a:cubicBezTo>
                  <a:pt x="359191" y="313659"/>
                  <a:pt x="335801" y="330193"/>
                  <a:pt x="309563" y="330193"/>
                </a:cubicBezTo>
                <a:cubicBezTo>
                  <a:pt x="283325" y="330193"/>
                  <a:pt x="259934" y="313659"/>
                  <a:pt x="251179" y="288925"/>
                </a:cubicBezTo>
                <a:lnTo>
                  <a:pt x="161571" y="288925"/>
                </a:lnTo>
                <a:cubicBezTo>
                  <a:pt x="152816" y="313659"/>
                  <a:pt x="129426" y="330193"/>
                  <a:pt x="103188" y="330193"/>
                </a:cubicBezTo>
                <a:cubicBezTo>
                  <a:pt x="76950" y="330193"/>
                  <a:pt x="53559" y="313659"/>
                  <a:pt x="44804" y="288925"/>
                </a:cubicBezTo>
                <a:lnTo>
                  <a:pt x="20638" y="288925"/>
                </a:lnTo>
                <a:cubicBezTo>
                  <a:pt x="9240" y="288925"/>
                  <a:pt x="0" y="279686"/>
                  <a:pt x="0" y="268288"/>
                </a:cubicBezTo>
                <a:lnTo>
                  <a:pt x="0" y="41275"/>
                </a:lnTo>
                <a:cubicBezTo>
                  <a:pt x="0" y="18479"/>
                  <a:pt x="18479" y="0"/>
                  <a:pt x="41275" y="0"/>
                </a:cubicBezTo>
                <a:close/>
                <a:moveTo>
                  <a:pt x="103188" y="247650"/>
                </a:moveTo>
                <a:cubicBezTo>
                  <a:pt x="91790" y="247650"/>
                  <a:pt x="82550" y="256890"/>
                  <a:pt x="82550" y="268288"/>
                </a:cubicBezTo>
                <a:cubicBezTo>
                  <a:pt x="82550" y="279686"/>
                  <a:pt x="91790" y="288925"/>
                  <a:pt x="103188" y="288925"/>
                </a:cubicBezTo>
                <a:cubicBezTo>
                  <a:pt x="114585" y="288925"/>
                  <a:pt x="123825" y="279686"/>
                  <a:pt x="123825" y="268288"/>
                </a:cubicBezTo>
                <a:cubicBezTo>
                  <a:pt x="123825" y="256890"/>
                  <a:pt x="114585" y="247650"/>
                  <a:pt x="103188" y="247650"/>
                </a:cubicBezTo>
                <a:moveTo>
                  <a:pt x="309563" y="247650"/>
                </a:moveTo>
                <a:cubicBezTo>
                  <a:pt x="298165" y="247650"/>
                  <a:pt x="288925" y="256890"/>
                  <a:pt x="288925" y="268288"/>
                </a:cubicBezTo>
                <a:cubicBezTo>
                  <a:pt x="288925" y="279686"/>
                  <a:pt x="298165" y="288925"/>
                  <a:pt x="309563" y="288925"/>
                </a:cubicBezTo>
                <a:cubicBezTo>
                  <a:pt x="320961" y="288925"/>
                  <a:pt x="330201" y="279686"/>
                  <a:pt x="330201" y="268288"/>
                </a:cubicBezTo>
                <a:cubicBezTo>
                  <a:pt x="330201" y="256890"/>
                  <a:pt x="320961" y="247650"/>
                  <a:pt x="309563" y="247650"/>
                </a:cubicBezTo>
                <a:moveTo>
                  <a:pt x="318520" y="61913"/>
                </a:moveTo>
                <a:lnTo>
                  <a:pt x="247650" y="61913"/>
                </a:lnTo>
                <a:lnTo>
                  <a:pt x="247650" y="123825"/>
                </a:lnTo>
                <a:lnTo>
                  <a:pt x="355667" y="123825"/>
                </a:lnTo>
                <a:close/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184809" y="2521744"/>
            <a:ext cx="107918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区域代理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82949" y="3106579"/>
            <a:ext cx="68388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切入点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83711" y="3484721"/>
            <a:ext cx="1932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标准话术、样品组合、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83711" y="3789521"/>
            <a:ext cx="15491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客户拜访演示后台</a:t>
            </a:r>
          </a:p>
        </p:txBody>
      </p:sp>
      <p:sp>
        <p:nvSpPr>
          <p:cNvPr id="27" name="Line 27"/>
          <p:cNvSpPr/>
          <p:nvPr/>
        </p:nvSpPr>
        <p:spPr>
          <a:xfrm>
            <a:off x="3790950" y="432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82949" y="4573429"/>
            <a:ext cx="46125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看重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83711" y="4951571"/>
            <a:ext cx="1932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铺货效率与招商说服力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48400" y="1581150"/>
            <a:ext cx="2552700" cy="3981450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6248400" y="1581150"/>
            <a:ext cx="2724150" cy="1085850"/>
          </a:xfrm>
          <a:custGeom>
            <a:avLst/>
            <a:gdLst/>
            <a:ahLst/>
            <a:cxnLst/>
            <a:rect l="l" t="t" r="r" b="b"/>
            <a:pathLst>
              <a:path w="2724150" h="1085850">
                <a:moveTo>
                  <a:pt x="0" y="0"/>
                </a:moveTo>
                <a:lnTo>
                  <a:pt x="2552700" y="0"/>
                </a:lnTo>
                <a:cubicBezTo>
                  <a:pt x="2647389" y="0"/>
                  <a:pt x="2724150" y="76761"/>
                  <a:pt x="2724150" y="171450"/>
                </a:cubicBezTo>
                <a:lnTo>
                  <a:pt x="27241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EEF4EC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7380288" y="1908175"/>
            <a:ext cx="288925" cy="412750"/>
            <a:chOff x="7380288" y="1908175"/>
            <a:chExt cx="288925" cy="412750"/>
          </a:xfrm>
        </p:grpSpPr>
        <p:sp>
          <p:nvSpPr>
            <p:cNvPr id="32" name="Freeform 32"/>
            <p:cNvSpPr/>
            <p:nvPr/>
          </p:nvSpPr>
          <p:spPr>
            <a:xfrm>
              <a:off x="7421563" y="1908175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7" y="0"/>
                    <a:pt x="206375" y="46199"/>
                    <a:pt x="206375" y="103188"/>
                  </a:cubicBezTo>
                  <a:cubicBezTo>
                    <a:pt x="206375" y="160177"/>
                    <a:pt x="160177" y="206375"/>
                    <a:pt x="103188" y="206375"/>
                  </a:cubicBezTo>
                  <a:cubicBezTo>
                    <a:pt x="46199" y="206375"/>
                    <a:pt x="0" y="160177"/>
                    <a:pt x="0" y="103188"/>
                  </a:cubicBezTo>
                  <a:lnTo>
                    <a:pt x="103" y="98709"/>
                  </a:lnTo>
                  <a:cubicBezTo>
                    <a:pt x="2501" y="43516"/>
                    <a:pt x="47943" y="3"/>
                    <a:pt x="103188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380288" y="2155825"/>
              <a:ext cx="288925" cy="165100"/>
            </a:xfrm>
            <a:custGeom>
              <a:avLst/>
              <a:gdLst/>
              <a:ahLst/>
              <a:cxnLst/>
              <a:rect l="l" t="t" r="r" b="b"/>
              <a:pathLst>
                <a:path w="288925" h="165100">
                  <a:moveTo>
                    <a:pt x="185738" y="0"/>
                  </a:moveTo>
                  <a:cubicBezTo>
                    <a:pt x="242727" y="0"/>
                    <a:pt x="288925" y="46199"/>
                    <a:pt x="288925" y="103188"/>
                  </a:cubicBezTo>
                  <a:lnTo>
                    <a:pt x="288925" y="123825"/>
                  </a:lnTo>
                  <a:cubicBezTo>
                    <a:pt x="288925" y="146621"/>
                    <a:pt x="270446" y="165100"/>
                    <a:pt x="247650" y="165100"/>
                  </a:cubicBezTo>
                  <a:lnTo>
                    <a:pt x="41275" y="165100"/>
                  </a:lnTo>
                  <a:cubicBezTo>
                    <a:pt x="18479" y="165100"/>
                    <a:pt x="0" y="146621"/>
                    <a:pt x="0" y="123825"/>
                  </a:cubicBezTo>
                  <a:lnTo>
                    <a:pt x="0" y="103188"/>
                  </a:lnTo>
                  <a:cubicBezTo>
                    <a:pt x="0" y="46199"/>
                    <a:pt x="46199" y="0"/>
                    <a:pt x="103188" y="0"/>
                  </a:cubicBezTo>
                  <a:lnTo>
                    <a:pt x="185738" y="0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6985159" y="2521744"/>
            <a:ext cx="107918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私域团长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83299" y="3106579"/>
            <a:ext cx="68388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切入点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84061" y="3484721"/>
            <a:ext cx="1740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场景种草、组合包、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84061" y="3789521"/>
            <a:ext cx="1357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晒单和复购提醒</a:t>
            </a:r>
          </a:p>
        </p:txBody>
      </p:sp>
      <p:sp>
        <p:nvSpPr>
          <p:cNvPr id="39" name="Line 39"/>
          <p:cNvSpPr/>
          <p:nvPr/>
        </p:nvSpPr>
        <p:spPr>
          <a:xfrm>
            <a:off x="6591300" y="432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583299" y="4573429"/>
            <a:ext cx="46125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看重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84061" y="4951571"/>
            <a:ext cx="1740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内容转化与复购节奏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048750" y="1581150"/>
            <a:ext cx="2552700" cy="3981450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9048750" y="1581150"/>
            <a:ext cx="2724150" cy="1085850"/>
          </a:xfrm>
          <a:custGeom>
            <a:avLst/>
            <a:gdLst/>
            <a:ahLst/>
            <a:cxnLst/>
            <a:rect l="l" t="t" r="r" b="b"/>
            <a:pathLst>
              <a:path w="2724150" h="1085850">
                <a:moveTo>
                  <a:pt x="0" y="0"/>
                </a:moveTo>
                <a:lnTo>
                  <a:pt x="2552700" y="0"/>
                </a:lnTo>
                <a:cubicBezTo>
                  <a:pt x="2647389" y="0"/>
                  <a:pt x="2724150" y="76761"/>
                  <a:pt x="2724150" y="171450"/>
                </a:cubicBezTo>
                <a:lnTo>
                  <a:pt x="27241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EEF4EC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10101319" y="1927859"/>
            <a:ext cx="447563" cy="372430"/>
          </a:xfrm>
          <a:custGeom>
            <a:avLst/>
            <a:gdLst/>
            <a:ahLst/>
            <a:cxnLst/>
            <a:rect l="l" t="t" r="r" b="b"/>
            <a:pathLst>
              <a:path w="447563" h="372430">
                <a:moveTo>
                  <a:pt x="223782" y="5"/>
                </a:moveTo>
                <a:cubicBezTo>
                  <a:pt x="311552" y="0"/>
                  <a:pt x="389723" y="55511"/>
                  <a:pt x="418643" y="138380"/>
                </a:cubicBezTo>
                <a:cubicBezTo>
                  <a:pt x="447563" y="221250"/>
                  <a:pt x="420904" y="313345"/>
                  <a:pt x="352188" y="367951"/>
                </a:cubicBezTo>
                <a:cubicBezTo>
                  <a:pt x="348538" y="370851"/>
                  <a:pt x="344014" y="372429"/>
                  <a:pt x="339352" y="372430"/>
                </a:cubicBezTo>
                <a:lnTo>
                  <a:pt x="108211" y="372430"/>
                </a:lnTo>
                <a:cubicBezTo>
                  <a:pt x="103550" y="372429"/>
                  <a:pt x="99025" y="370851"/>
                  <a:pt x="95375" y="367951"/>
                </a:cubicBezTo>
                <a:cubicBezTo>
                  <a:pt x="26659" y="313345"/>
                  <a:pt x="0" y="221250"/>
                  <a:pt x="28920" y="138380"/>
                </a:cubicBezTo>
                <a:cubicBezTo>
                  <a:pt x="57840" y="55511"/>
                  <a:pt x="136011" y="0"/>
                  <a:pt x="223782" y="5"/>
                </a:cubicBezTo>
                <a:moveTo>
                  <a:pt x="310604" y="120507"/>
                </a:moveTo>
                <a:cubicBezTo>
                  <a:pt x="302545" y="112451"/>
                  <a:pt x="289481" y="112451"/>
                  <a:pt x="281422" y="120507"/>
                </a:cubicBezTo>
                <a:lnTo>
                  <a:pt x="234451" y="167437"/>
                </a:lnTo>
                <a:cubicBezTo>
                  <a:pt x="222468" y="164251"/>
                  <a:pt x="209687" y="166613"/>
                  <a:pt x="199634" y="173871"/>
                </a:cubicBezTo>
                <a:cubicBezTo>
                  <a:pt x="189580" y="181129"/>
                  <a:pt x="183316" y="192517"/>
                  <a:pt x="182568" y="204894"/>
                </a:cubicBezTo>
                <a:lnTo>
                  <a:pt x="182506" y="207329"/>
                </a:lnTo>
                <a:cubicBezTo>
                  <a:pt x="182536" y="223350"/>
                  <a:pt x="191833" y="237906"/>
                  <a:pt x="206356" y="244670"/>
                </a:cubicBezTo>
                <a:cubicBezTo>
                  <a:pt x="220879" y="251433"/>
                  <a:pt x="238003" y="249182"/>
                  <a:pt x="250285" y="238895"/>
                </a:cubicBezTo>
                <a:cubicBezTo>
                  <a:pt x="262566" y="228608"/>
                  <a:pt x="267786" y="212143"/>
                  <a:pt x="263674" y="196660"/>
                </a:cubicBezTo>
                <a:lnTo>
                  <a:pt x="310604" y="149689"/>
                </a:lnTo>
                <a:cubicBezTo>
                  <a:pt x="318660" y="141630"/>
                  <a:pt x="318660" y="128566"/>
                  <a:pt x="310604" y="120507"/>
                </a:cubicBezTo>
              </a:path>
            </a:pathLst>
          </a:custGeom>
          <a:solidFill>
            <a:srgbClr val="D6A75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652992" y="2521744"/>
            <a:ext cx="134421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品牌合作方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83649" y="3106579"/>
            <a:ext cx="68388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切入点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84411" y="3484721"/>
            <a:ext cx="1932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联名试销、线上专题、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84411" y="37895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数据看板复盘</a:t>
            </a:r>
          </a:p>
        </p:txBody>
      </p:sp>
      <p:sp>
        <p:nvSpPr>
          <p:cNvPr id="49" name="Line 49"/>
          <p:cNvSpPr/>
          <p:nvPr/>
        </p:nvSpPr>
        <p:spPr>
          <a:xfrm>
            <a:off x="9391650" y="432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383649" y="4573429"/>
            <a:ext cx="46125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看重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384411" y="4951571"/>
            <a:ext cx="19328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低成本验证与共创空间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5785" y="6298406"/>
            <a:ext cx="23275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招商对象与商城功能映射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445695" y="389572"/>
            <a:ext cx="930061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合作启动可以压缩为选品、陈列、复盘三步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56535" y="981075"/>
            <a:ext cx="66789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让合作方在短周期里看到产品动销和内容转化，而不是长期等待大系统上线</a:t>
            </a:r>
          </a:p>
        </p:txBody>
      </p:sp>
      <p:sp>
        <p:nvSpPr>
          <p:cNvPr id="5" name="Line 5"/>
          <p:cNvSpPr/>
          <p:nvPr/>
        </p:nvSpPr>
        <p:spPr>
          <a:xfrm>
            <a:off x="2476500" y="2428875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38100" cap="rnd">
            <a:solidFill>
              <a:srgbClr val="8EB69B"/>
            </a:solidFill>
          </a:ln>
        </p:spPr>
      </p:sp>
      <p:sp>
        <p:nvSpPr>
          <p:cNvPr id="6" name="Polygon 6"/>
          <p:cNvSpPr/>
          <p:nvPr/>
        </p:nvSpPr>
        <p:spPr>
          <a:xfrm>
            <a:off x="9715500" y="2324100"/>
            <a:ext cx="247650" cy="209550"/>
          </a:xfrm>
          <a:custGeom>
            <a:avLst/>
            <a:gdLst/>
            <a:ahLst/>
            <a:cxnLst/>
            <a:rect l="l" t="t" r="r" b="b"/>
            <a:pathLst>
              <a:path w="247650" h="209550">
                <a:moveTo>
                  <a:pt x="0" y="0"/>
                </a:moveTo>
                <a:lnTo>
                  <a:pt x="247650" y="104775"/>
                </a:lnTo>
                <a:lnTo>
                  <a:pt x="0" y="209550"/>
                </a:lnTo>
                <a:close/>
              </a:path>
            </a:pathLst>
          </a:custGeom>
          <a:solidFill>
            <a:srgbClr val="8EB69B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962150" y="1914525"/>
            <a:ext cx="1028700" cy="10287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03184" y="2225040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Ellipse 9"/>
          <p:cNvSpPr/>
          <p:nvPr/>
        </p:nvSpPr>
        <p:spPr>
          <a:xfrm>
            <a:off x="5581650" y="1914525"/>
            <a:ext cx="1028700" cy="1028700"/>
          </a:xfrm>
          <a:prstGeom prst="ellipse">
            <a:avLst/>
          </a:prstGeom>
          <a:solidFill>
            <a:srgbClr val="D6A75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822684" y="2225040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Ellipse 11"/>
          <p:cNvSpPr/>
          <p:nvPr/>
        </p:nvSpPr>
        <p:spPr>
          <a:xfrm>
            <a:off x="9201150" y="1914525"/>
            <a:ext cx="1028700" cy="10287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42184" y="2225040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47750" y="3371850"/>
            <a:ext cx="2857500" cy="21145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417320" y="3605212"/>
            <a:ext cx="6589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选品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0368" y="41271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基于渠道定位选择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0368" y="4451032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2 到 4 个主推 SKU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428750" y="49911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668894" y="50644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输出货盘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667250" y="3371850"/>
            <a:ext cx="2857500" cy="21145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036820" y="3605212"/>
            <a:ext cx="6589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陈列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39868" y="4127182"/>
            <a:ext cx="22602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按“奖励、加餐、护理”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39868" y="445103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组织货架和内容话术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048250" y="49911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88394" y="50644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6A756"/>
                </a:solidFill>
                <a:latin typeface="Arial"/>
                <a:ea typeface="Microsoft YaHei"/>
                <a:cs typeface="Arial"/>
              </a:rPr>
              <a:t>输出样板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286750" y="3371850"/>
            <a:ext cx="2857500" cy="21145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656320" y="3605212"/>
            <a:ext cx="6589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59368" y="4127182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用订单、销量、营业额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59368" y="445103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判断补货和加推节奏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667750" y="49911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EEF4E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907894" y="50644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输出看板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5785" y="6298406"/>
            <a:ext cx="30918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Source: 后台新品上架、订单列表与统计卡片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8A968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3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A25">
              <a:alpha val="18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52450" y="666750"/>
            <a:ext cx="5429250" cy="5219700"/>
          </a:xfrm>
          <a:prstGeom prst="roundRect">
            <a:avLst>
              <a:gd name="adj" fmla="val 4745"/>
            </a:avLst>
          </a:prstGeom>
          <a:solidFill>
            <a:srgbClr val="F6F8F3">
              <a:alpha val="93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019465" y="1176333"/>
            <a:ext cx="361369" cy="314329"/>
            <a:chOff x="1019465" y="1176333"/>
            <a:chExt cx="361369" cy="314329"/>
          </a:xfrm>
        </p:grpSpPr>
        <p:sp>
          <p:nvSpPr>
            <p:cNvPr id="6" name="Freeform 6"/>
            <p:cNvSpPr/>
            <p:nvPr/>
          </p:nvSpPr>
          <p:spPr>
            <a:xfrm>
              <a:off x="1072621" y="1298575"/>
              <a:ext cx="255004" cy="192087"/>
            </a:xfrm>
            <a:custGeom>
              <a:avLst/>
              <a:gdLst/>
              <a:ahLst/>
              <a:cxnLst/>
              <a:rect l="l" t="t" r="r" b="b"/>
              <a:pathLst>
                <a:path w="255004" h="192087">
                  <a:moveTo>
                    <a:pt x="127528" y="0"/>
                  </a:moveTo>
                  <a:cubicBezTo>
                    <a:pt x="104478" y="0"/>
                    <a:pt x="92900" y="7352"/>
                    <a:pt x="76346" y="33598"/>
                  </a:cubicBezTo>
                  <a:lnTo>
                    <a:pt x="72085" y="40548"/>
                  </a:lnTo>
                  <a:lnTo>
                    <a:pt x="65187" y="52562"/>
                  </a:lnTo>
                  <a:cubicBezTo>
                    <a:pt x="64362" y="54038"/>
                    <a:pt x="63542" y="55517"/>
                    <a:pt x="62725" y="56997"/>
                  </a:cubicBezTo>
                  <a:cubicBezTo>
                    <a:pt x="58534" y="64576"/>
                    <a:pt x="52754" y="70147"/>
                    <a:pt x="42835" y="76940"/>
                  </a:cubicBezTo>
                  <a:lnTo>
                    <a:pt x="33231" y="83313"/>
                  </a:lnTo>
                  <a:cubicBezTo>
                    <a:pt x="16816" y="94262"/>
                    <a:pt x="8225" y="102836"/>
                    <a:pt x="3423" y="117453"/>
                  </a:cubicBezTo>
                  <a:cubicBezTo>
                    <a:pt x="1257" y="123355"/>
                    <a:pt x="0" y="132348"/>
                    <a:pt x="52" y="139805"/>
                  </a:cubicBezTo>
                  <a:cubicBezTo>
                    <a:pt x="52" y="169264"/>
                    <a:pt x="20972" y="192087"/>
                    <a:pt x="48947" y="192087"/>
                  </a:cubicBezTo>
                  <a:lnTo>
                    <a:pt x="53173" y="191982"/>
                  </a:lnTo>
                  <a:cubicBezTo>
                    <a:pt x="55251" y="191878"/>
                    <a:pt x="57259" y="191686"/>
                    <a:pt x="59355" y="191389"/>
                  </a:cubicBezTo>
                  <a:lnTo>
                    <a:pt x="63686" y="190638"/>
                  </a:lnTo>
                  <a:lnTo>
                    <a:pt x="65991" y="190149"/>
                  </a:lnTo>
                  <a:lnTo>
                    <a:pt x="71072" y="188874"/>
                  </a:lnTo>
                  <a:lnTo>
                    <a:pt x="73901" y="188088"/>
                  </a:lnTo>
                  <a:lnTo>
                    <a:pt x="83855" y="185120"/>
                  </a:lnTo>
                  <a:lnTo>
                    <a:pt x="97179" y="180876"/>
                  </a:lnTo>
                  <a:lnTo>
                    <a:pt x="105124" y="178501"/>
                  </a:lnTo>
                  <a:cubicBezTo>
                    <a:pt x="114379" y="175882"/>
                    <a:pt x="121539" y="174625"/>
                    <a:pt x="127528" y="174625"/>
                  </a:cubicBezTo>
                  <a:cubicBezTo>
                    <a:pt x="133535" y="174625"/>
                    <a:pt x="140678" y="175899"/>
                    <a:pt x="149933" y="178501"/>
                  </a:cubicBezTo>
                  <a:lnTo>
                    <a:pt x="157878" y="180876"/>
                  </a:lnTo>
                  <a:lnTo>
                    <a:pt x="171220" y="185102"/>
                  </a:lnTo>
                  <a:lnTo>
                    <a:pt x="181156" y="188088"/>
                  </a:lnTo>
                  <a:lnTo>
                    <a:pt x="186604" y="189555"/>
                  </a:lnTo>
                  <a:cubicBezTo>
                    <a:pt x="188298" y="189974"/>
                    <a:pt x="189869" y="190341"/>
                    <a:pt x="191371" y="190638"/>
                  </a:cubicBezTo>
                  <a:lnTo>
                    <a:pt x="195702" y="191389"/>
                  </a:lnTo>
                  <a:cubicBezTo>
                    <a:pt x="197797" y="191686"/>
                    <a:pt x="199806" y="191878"/>
                    <a:pt x="201884" y="191982"/>
                  </a:cubicBezTo>
                  <a:lnTo>
                    <a:pt x="206110" y="192087"/>
                  </a:lnTo>
                  <a:cubicBezTo>
                    <a:pt x="234084" y="192087"/>
                    <a:pt x="255004" y="169264"/>
                    <a:pt x="255004" y="139700"/>
                  </a:cubicBezTo>
                  <a:cubicBezTo>
                    <a:pt x="255004" y="132243"/>
                    <a:pt x="253730" y="123302"/>
                    <a:pt x="251390" y="116894"/>
                  </a:cubicBezTo>
                  <a:cubicBezTo>
                    <a:pt x="247269" y="104251"/>
                    <a:pt x="239568" y="95537"/>
                    <a:pt x="225545" y="84937"/>
                  </a:cubicBezTo>
                  <a:lnTo>
                    <a:pt x="221057" y="81620"/>
                  </a:lnTo>
                  <a:lnTo>
                    <a:pt x="211837" y="74984"/>
                  </a:lnTo>
                  <a:cubicBezTo>
                    <a:pt x="200626" y="66776"/>
                    <a:pt x="194322" y="60560"/>
                    <a:pt x="189957" y="52667"/>
                  </a:cubicBezTo>
                  <a:lnTo>
                    <a:pt x="185242" y="44198"/>
                  </a:lnTo>
                  <a:lnTo>
                    <a:pt x="180841" y="36654"/>
                  </a:lnTo>
                  <a:cubicBezTo>
                    <a:pt x="163187" y="7037"/>
                    <a:pt x="152587" y="0"/>
                    <a:pt x="127528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272654" y="1246186"/>
              <a:ext cx="108180" cy="122239"/>
            </a:xfrm>
            <a:custGeom>
              <a:avLst/>
              <a:gdLst/>
              <a:ahLst/>
              <a:cxnLst/>
              <a:rect l="l" t="t" r="r" b="b"/>
              <a:pathLst>
                <a:path w="108180" h="122239">
                  <a:moveTo>
                    <a:pt x="63354" y="1"/>
                  </a:moveTo>
                  <a:lnTo>
                    <a:pt x="62830" y="1"/>
                  </a:lnTo>
                  <a:cubicBezTo>
                    <a:pt x="41543" y="351"/>
                    <a:pt x="21793" y="18616"/>
                    <a:pt x="12049" y="43727"/>
                  </a:cubicBezTo>
                  <a:cubicBezTo>
                    <a:pt x="0" y="74723"/>
                    <a:pt x="5972" y="108688"/>
                    <a:pt x="30821" y="119392"/>
                  </a:cubicBezTo>
                  <a:cubicBezTo>
                    <a:pt x="35292" y="121296"/>
                    <a:pt x="40024" y="122239"/>
                    <a:pt x="44809" y="122239"/>
                  </a:cubicBezTo>
                  <a:cubicBezTo>
                    <a:pt x="66305" y="122239"/>
                    <a:pt x="86369" y="103851"/>
                    <a:pt x="96201" y="78513"/>
                  </a:cubicBezTo>
                  <a:cubicBezTo>
                    <a:pt x="108180" y="47534"/>
                    <a:pt x="102138" y="13552"/>
                    <a:pt x="77411" y="2865"/>
                  </a:cubicBezTo>
                  <a:cubicBezTo>
                    <a:pt x="72972" y="974"/>
                    <a:pt x="68196" y="0"/>
                    <a:pt x="63371" y="1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00002" y="1176337"/>
              <a:ext cx="104233" cy="122237"/>
            </a:xfrm>
            <a:custGeom>
              <a:avLst/>
              <a:gdLst/>
              <a:ahLst/>
              <a:cxnLst/>
              <a:rect l="l" t="t" r="r" b="b"/>
              <a:pathLst>
                <a:path w="104233" h="122237">
                  <a:moveTo>
                    <a:pt x="48196" y="0"/>
                  </a:moveTo>
                  <a:cubicBezTo>
                    <a:pt x="46241" y="0"/>
                    <a:pt x="44966" y="35"/>
                    <a:pt x="43482" y="262"/>
                  </a:cubicBezTo>
                  <a:lnTo>
                    <a:pt x="41858" y="541"/>
                  </a:lnTo>
                  <a:cubicBezTo>
                    <a:pt x="15105" y="4139"/>
                    <a:pt x="0" y="35274"/>
                    <a:pt x="5047" y="67859"/>
                  </a:cubicBezTo>
                  <a:cubicBezTo>
                    <a:pt x="9796" y="97982"/>
                    <a:pt x="30577" y="122237"/>
                    <a:pt x="56037" y="122237"/>
                  </a:cubicBezTo>
                  <a:lnTo>
                    <a:pt x="59303" y="122150"/>
                  </a:lnTo>
                  <a:cubicBezTo>
                    <a:pt x="59793" y="122108"/>
                    <a:pt x="60283" y="122050"/>
                    <a:pt x="60769" y="121975"/>
                  </a:cubicBezTo>
                  <a:lnTo>
                    <a:pt x="62376" y="121696"/>
                  </a:lnTo>
                  <a:cubicBezTo>
                    <a:pt x="89146" y="118099"/>
                    <a:pt x="104233" y="86963"/>
                    <a:pt x="99187" y="54378"/>
                  </a:cubicBezTo>
                  <a:cubicBezTo>
                    <a:pt x="94472" y="24220"/>
                    <a:pt x="73692" y="0"/>
                    <a:pt x="48196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96063" y="1176333"/>
              <a:ext cx="104216" cy="122241"/>
            </a:xfrm>
            <a:custGeom>
              <a:avLst/>
              <a:gdLst/>
              <a:ahLst/>
              <a:cxnLst/>
              <a:rect l="l" t="t" r="r" b="b"/>
              <a:pathLst>
                <a:path w="104216" h="122241">
                  <a:moveTo>
                    <a:pt x="55985" y="4"/>
                  </a:moveTo>
                  <a:cubicBezTo>
                    <a:pt x="30507" y="4"/>
                    <a:pt x="9762" y="24242"/>
                    <a:pt x="5064" y="54365"/>
                  </a:cubicBezTo>
                  <a:cubicBezTo>
                    <a:pt x="0" y="86967"/>
                    <a:pt x="15088" y="118103"/>
                    <a:pt x="43028" y="121892"/>
                  </a:cubicBezTo>
                  <a:cubicBezTo>
                    <a:pt x="44826" y="122119"/>
                    <a:pt x="46520" y="122241"/>
                    <a:pt x="48196" y="122241"/>
                  </a:cubicBezTo>
                  <a:cubicBezTo>
                    <a:pt x="72469" y="122241"/>
                    <a:pt x="92603" y="100151"/>
                    <a:pt x="98436" y="71897"/>
                  </a:cubicBezTo>
                  <a:lnTo>
                    <a:pt x="99152" y="67881"/>
                  </a:lnTo>
                  <a:cubicBezTo>
                    <a:pt x="104216" y="35278"/>
                    <a:pt x="89128" y="4143"/>
                    <a:pt x="61188" y="353"/>
                  </a:cubicBezTo>
                  <a:cubicBezTo>
                    <a:pt x="59464" y="117"/>
                    <a:pt x="57725" y="0"/>
                    <a:pt x="55985" y="4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19465" y="1246187"/>
              <a:ext cx="108163" cy="122237"/>
            </a:xfrm>
            <a:custGeom>
              <a:avLst/>
              <a:gdLst/>
              <a:ahLst/>
              <a:cxnLst/>
              <a:rect l="l" t="t" r="r" b="b"/>
              <a:pathLst>
                <a:path w="108163" h="122237">
                  <a:moveTo>
                    <a:pt x="44774" y="0"/>
                  </a:moveTo>
                  <a:cubicBezTo>
                    <a:pt x="39989" y="0"/>
                    <a:pt x="35274" y="943"/>
                    <a:pt x="30856" y="2811"/>
                  </a:cubicBezTo>
                  <a:cubicBezTo>
                    <a:pt x="5955" y="13551"/>
                    <a:pt x="0" y="47550"/>
                    <a:pt x="12032" y="78511"/>
                  </a:cubicBezTo>
                  <a:cubicBezTo>
                    <a:pt x="21863" y="103849"/>
                    <a:pt x="41892" y="122237"/>
                    <a:pt x="63389" y="122237"/>
                  </a:cubicBezTo>
                  <a:cubicBezTo>
                    <a:pt x="68173" y="122237"/>
                    <a:pt x="72888" y="121294"/>
                    <a:pt x="77306" y="119426"/>
                  </a:cubicBezTo>
                  <a:cubicBezTo>
                    <a:pt x="102208" y="108686"/>
                    <a:pt x="108163" y="74687"/>
                    <a:pt x="96131" y="43726"/>
                  </a:cubicBezTo>
                  <a:cubicBezTo>
                    <a:pt x="86300" y="18388"/>
                    <a:pt x="66270" y="0"/>
                    <a:pt x="44774" y="0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551432" y="12020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岚禾小食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1550" y="1903095"/>
            <a:ext cx="499952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一起把天然宠物零食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1550" y="2531745"/>
            <a:ext cx="555078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E2A25"/>
                </a:solidFill>
                <a:latin typeface="Arial"/>
                <a:ea typeface="Microsoft YaHei"/>
                <a:cs typeface="Arial"/>
              </a:rPr>
              <a:t>做成可复购的渠道生意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9556" y="336804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用清晰产品、可演示商城和经营后台，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556" y="372999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F6E65"/>
                </a:solidFill>
                <a:latin typeface="Arial"/>
                <a:ea typeface="Microsoft YaHei"/>
                <a:cs typeface="Arial"/>
              </a:rPr>
              <a:t>帮助合作方完成从试销到复购的第一轮验证。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28700" y="4495800"/>
            <a:ext cx="1314450" cy="41910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54252" y="46196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选品试销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495550" y="4495800"/>
            <a:ext cx="131445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721102" y="46196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样板陈列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962400" y="4495800"/>
            <a:ext cx="131445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DE6D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187952" y="46196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F5D50"/>
                </a:solidFill>
                <a:latin typeface="Arial"/>
                <a:ea typeface="Microsoft YaHei"/>
                <a:cs typeface="Arial"/>
              </a:rPr>
              <a:t>数据复盘</a:t>
            </a:r>
          </a:p>
        </p:txBody>
      </p:sp>
      <p:sp>
        <p:nvSpPr>
          <p:cNvPr id="23" name="Line 23"/>
          <p:cNvSpPr/>
          <p:nvPr/>
        </p:nvSpPr>
        <p:spPr>
          <a:xfrm>
            <a:off x="1028700" y="52768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DE6D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21842" y="5474018"/>
            <a:ext cx="42656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A968E"/>
                </a:solidFill>
                <a:latin typeface="Arial"/>
                <a:ea typeface="Microsoft YaHei"/>
                <a:cs typeface="Arial"/>
              </a:rPr>
              <a:t>招商演示稿 · 基于 Pet-treats 静态商城与后台方案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48193" y="6298406"/>
            <a:ext cx="178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FFFFFF">
                    <a:alphaMod val="85000"/>
                  </a:srgbClr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2026-07-02T17:43:43Z</dcterms:created>
  <dcterms:modified xsi:type="dcterms:W3CDTF">2026-07-02T17:43:43Z</dcterms:modified>
  <cp:category/>
  <cp:contentStatus/>
</cp:coreProperties>
</file>